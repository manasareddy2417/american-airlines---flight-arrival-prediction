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92" r:id="rId2"/>
    <p:sldId id="257" r:id="rId3"/>
    <p:sldId id="277" r:id="rId4"/>
    <p:sldId id="260" r:id="rId5"/>
    <p:sldId id="262" r:id="rId6"/>
    <p:sldId id="264" r:id="rId7"/>
    <p:sldId id="265" r:id="rId8"/>
    <p:sldId id="266" r:id="rId9"/>
    <p:sldId id="267" r:id="rId10"/>
    <p:sldId id="278" r:id="rId11"/>
    <p:sldId id="268" r:id="rId12"/>
    <p:sldId id="269" r:id="rId13"/>
    <p:sldId id="280" r:id="rId14"/>
    <p:sldId id="270" r:id="rId15"/>
    <p:sldId id="287" r:id="rId16"/>
    <p:sldId id="288" r:id="rId17"/>
    <p:sldId id="289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08" autoAdjust="0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3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6572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F5A563-E23D-9C44-40A1-0281A3642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164D09-722E-29F3-4AA6-EF32832A7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77" y="303687"/>
            <a:ext cx="11595879" cy="6522679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91D5EFBE-4AF8-5E0A-9437-56492B737D02}"/>
              </a:ext>
            </a:extLst>
          </p:cNvPr>
          <p:cNvSpPr/>
          <p:nvPr/>
        </p:nvSpPr>
        <p:spPr>
          <a:xfrm>
            <a:off x="1071950" y="1186849"/>
            <a:ext cx="10284919" cy="8686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FFFFFF"/>
                </a:solidFill>
                <a:ea typeface="Calibri" pitchFamily="34" charset="-122"/>
                <a:cs typeface="Times New Roman" panose="02020603050405020304" pitchFamily="18" charset="0"/>
              </a:rPr>
              <a:t>	 </a:t>
            </a:r>
            <a:r>
              <a:rPr lang="en-US" sz="3200" b="1" kern="0" spc="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FLIGHT ARRIVAL DELAY PREDICTION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23C1A41-F6E9-B712-1D34-5BEAD50EE90B}"/>
              </a:ext>
            </a:extLst>
          </p:cNvPr>
          <p:cNvSpPr/>
          <p:nvPr/>
        </p:nvSpPr>
        <p:spPr>
          <a:xfrm>
            <a:off x="3954463" y="1844877"/>
            <a:ext cx="497688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Dallas/Fort Worth International Airport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13C499A-D62A-2C35-50A6-E2845E3F845C}"/>
              </a:ext>
            </a:extLst>
          </p:cNvPr>
          <p:cNvSpPr/>
          <p:nvPr/>
        </p:nvSpPr>
        <p:spPr>
          <a:xfrm>
            <a:off x="3372479" y="2638293"/>
            <a:ext cx="2267272" cy="30116"/>
          </a:xfrm>
          <a:prstGeom prst="line">
            <a:avLst/>
          </a:prstGeom>
          <a:noFill/>
          <a:ln w="381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FA667B8-3DB9-BA89-5610-9F4DCDB9437D}"/>
              </a:ext>
            </a:extLst>
          </p:cNvPr>
          <p:cNvSpPr/>
          <p:nvPr/>
        </p:nvSpPr>
        <p:spPr>
          <a:xfrm>
            <a:off x="3844486" y="2892958"/>
            <a:ext cx="5196840" cy="19227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ADTA 5940 Analytics Capstone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     University of North Texas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                 Spring 2026</a:t>
            </a:r>
          </a:p>
          <a:p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9" name="Text 18">
            <a:extLst>
              <a:ext uri="{FF2B5EF4-FFF2-40B4-BE49-F238E27FC236}">
                <a16:creationId xmlns:a16="http://schemas.microsoft.com/office/drawing/2014/main" id="{C902BB85-798D-559E-E87F-B27707D200B0}"/>
              </a:ext>
            </a:extLst>
          </p:cNvPr>
          <p:cNvSpPr/>
          <p:nvPr/>
        </p:nvSpPr>
        <p:spPr>
          <a:xfrm>
            <a:off x="742950" y="5593400"/>
            <a:ext cx="9569450" cy="651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		                   </a:t>
            </a: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Manasa Dontireddy</a:t>
            </a:r>
            <a:endParaRPr lang="en-US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b="1" dirty="0">
                <a:solidFill>
                  <a:schemeClr val="bg1"/>
                </a:solidFill>
              </a:rPr>
              <a:t>                                                                                   Professor : Dr. Jingjing Tong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234E90C5-4C05-9F4F-56FC-5D4212FCADD0}"/>
              </a:ext>
            </a:extLst>
          </p:cNvPr>
          <p:cNvSpPr/>
          <p:nvPr/>
        </p:nvSpPr>
        <p:spPr>
          <a:xfrm>
            <a:off x="164591" y="118871"/>
            <a:ext cx="2791259" cy="798889"/>
          </a:xfrm>
          <a:prstGeom prst="rect">
            <a:avLst/>
          </a:prstGeom>
          <a:solidFill>
            <a:schemeClr val="accent1">
              <a:lumMod val="40000"/>
              <a:lumOff val="60000"/>
              <a:alpha val="65000"/>
            </a:scheme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7E54BFE6-2156-994F-C9FA-95FA62548D07}"/>
              </a:ext>
            </a:extLst>
          </p:cNvPr>
          <p:cNvSpPr/>
          <p:nvPr/>
        </p:nvSpPr>
        <p:spPr>
          <a:xfrm>
            <a:off x="1286772" y="271100"/>
            <a:ext cx="18288" cy="438912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2" descr="/home/claude/aa_logo_clean.png">
            <a:extLst>
              <a:ext uri="{FF2B5EF4-FFF2-40B4-BE49-F238E27FC236}">
                <a16:creationId xmlns:a16="http://schemas.microsoft.com/office/drawing/2014/main" id="{3B6D1AB5-59EB-F95C-B57A-DC9B0DA52B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17730" y="221143"/>
            <a:ext cx="1248945" cy="499578"/>
          </a:xfrm>
          <a:prstGeom prst="rect">
            <a:avLst/>
          </a:prstGeom>
        </p:spPr>
      </p:pic>
      <p:sp>
        <p:nvSpPr>
          <p:cNvPr id="36" name="Shape 4">
            <a:extLst>
              <a:ext uri="{FF2B5EF4-FFF2-40B4-BE49-F238E27FC236}">
                <a16:creationId xmlns:a16="http://schemas.microsoft.com/office/drawing/2014/main" id="{EBDFBBB5-B0C5-43FA-5AEB-11BAEED5F42B}"/>
              </a:ext>
            </a:extLst>
          </p:cNvPr>
          <p:cNvSpPr/>
          <p:nvPr/>
        </p:nvSpPr>
        <p:spPr>
          <a:xfrm>
            <a:off x="6602213" y="2668409"/>
            <a:ext cx="2394161" cy="12491"/>
          </a:xfrm>
          <a:prstGeom prst="line">
            <a:avLst/>
          </a:prstGeom>
          <a:noFill/>
          <a:ln w="381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A83B0D3-4F6F-3DA5-94C7-3BD8A1736105}"/>
              </a:ext>
            </a:extLst>
          </p:cNvPr>
          <p:cNvSpPr/>
          <p:nvPr/>
        </p:nvSpPr>
        <p:spPr>
          <a:xfrm>
            <a:off x="368019" y="157746"/>
            <a:ext cx="703931" cy="6317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DFDE63A6-1F28-B6E3-B183-31612E52C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471" y="368083"/>
            <a:ext cx="608850" cy="281008"/>
          </a:xfrm>
          <a:prstGeom prst="rect">
            <a:avLst/>
          </a:prstGeom>
        </p:spPr>
      </p:pic>
      <p:sp>
        <p:nvSpPr>
          <p:cNvPr id="50" name="Shape 0">
            <a:extLst>
              <a:ext uri="{FF2B5EF4-FFF2-40B4-BE49-F238E27FC236}">
                <a16:creationId xmlns:a16="http://schemas.microsoft.com/office/drawing/2014/main" id="{52DC1951-0DD2-0A28-1F00-755B4EEA36E7}"/>
              </a:ext>
            </a:extLst>
          </p:cNvPr>
          <p:cNvSpPr/>
          <p:nvPr/>
        </p:nvSpPr>
        <p:spPr>
          <a:xfrm>
            <a:off x="9271963" y="161017"/>
            <a:ext cx="2692686" cy="779285"/>
          </a:xfrm>
          <a:prstGeom prst="rect">
            <a:avLst/>
          </a:prstGeom>
          <a:solidFill>
            <a:schemeClr val="accent1">
              <a:lumMod val="20000"/>
              <a:lumOff val="80000"/>
              <a:alpha val="65000"/>
            </a:scheme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1">
            <a:extLst>
              <a:ext uri="{FF2B5EF4-FFF2-40B4-BE49-F238E27FC236}">
                <a16:creationId xmlns:a16="http://schemas.microsoft.com/office/drawing/2014/main" id="{24AD6DCB-347A-5E5A-8809-7D7DFEFB1BF6}"/>
              </a:ext>
            </a:extLst>
          </p:cNvPr>
          <p:cNvSpPr/>
          <p:nvPr/>
        </p:nvSpPr>
        <p:spPr>
          <a:xfrm>
            <a:off x="10800992" y="323457"/>
            <a:ext cx="18288" cy="438912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2" name="Image 2" descr="/home/claude/aa_logo_clean.png">
            <a:extLst>
              <a:ext uri="{FF2B5EF4-FFF2-40B4-BE49-F238E27FC236}">
                <a16:creationId xmlns:a16="http://schemas.microsoft.com/office/drawing/2014/main" id="{542DF75D-9A2D-3301-A1DA-82BF2C4254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5248" y="268060"/>
            <a:ext cx="1248945" cy="499578"/>
          </a:xfrm>
          <a:prstGeom prst="rect">
            <a:avLst/>
          </a:prstGeom>
        </p:spPr>
      </p:pic>
      <p:sp>
        <p:nvSpPr>
          <p:cNvPr id="53" name="Oval 52">
            <a:extLst>
              <a:ext uri="{FF2B5EF4-FFF2-40B4-BE49-F238E27FC236}">
                <a16:creationId xmlns:a16="http://schemas.microsoft.com/office/drawing/2014/main" id="{C7B9113D-52ED-DEF4-1464-C5CEDD4777FF}"/>
              </a:ext>
            </a:extLst>
          </p:cNvPr>
          <p:cNvSpPr/>
          <p:nvPr/>
        </p:nvSpPr>
        <p:spPr>
          <a:xfrm>
            <a:off x="11046978" y="201978"/>
            <a:ext cx="703931" cy="6317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2CF0763E-334F-3628-24D9-D0B5F81CAC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518" y="409443"/>
            <a:ext cx="608850" cy="281008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22FCAB42-E6B9-4384-AE51-DA91A349D2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1912" y="2389075"/>
            <a:ext cx="457200" cy="45720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00B30DFE-D762-5822-83A6-D981D8F709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616" y="2366765"/>
            <a:ext cx="506597" cy="506597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40606D79-E953-33C9-753B-2FC79EBB24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1280" y="213024"/>
            <a:ext cx="506597" cy="506597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97ECB56E-FF8E-56CF-41DB-EA2A08460C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7865" y="264550"/>
            <a:ext cx="506597" cy="50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673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73152" cy="59436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1612880" cy="0"/>
          </a:xfrm>
          <a:prstGeom prst="line">
            <a:avLst/>
          </a:prstGeom>
          <a:noFill/>
          <a:ln w="9525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Delay Prediction — DFW  |  ADTA 5940 Capstone  |  GROUP-8  |  University of North Texas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70432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5715000" cy="1005840"/>
          </a:xfrm>
          <a:prstGeom prst="rect">
            <a:avLst/>
          </a:prstGeom>
          <a:solidFill>
            <a:srgbClr val="F8FAFE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594360" cy="1005840"/>
          </a:xfrm>
          <a:prstGeom prst="rect">
            <a:avLst/>
          </a:prstGeom>
          <a:solidFill>
            <a:srgbClr val="1E88E5"/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37160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87552" y="117043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87552" y="15361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DFW Airport Context, industry problem, and Prior Research,  Gaps in Research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1097280"/>
            <a:ext cx="5715000" cy="1005840"/>
          </a:xfrm>
          <a:prstGeom prst="rect">
            <a:avLst/>
          </a:prstGeom>
          <a:solidFill>
            <a:srgbClr val="F8FAFE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63640" y="1097280"/>
            <a:ext cx="594360" cy="100584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63640" y="137160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76872" y="117043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Business Context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76872" y="15361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questions, business value, and DFW by numbers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212848"/>
            <a:ext cx="5715000" cy="1005840"/>
          </a:xfrm>
          <a:prstGeom prst="rect">
            <a:avLst/>
          </a:prstGeom>
          <a:solidFill>
            <a:srgbClr val="F8FAFE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2212848"/>
            <a:ext cx="594360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48716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87552" y="22860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Methodology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87552" y="2651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dataset, weather API integration, data pipeline overview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2212848"/>
            <a:ext cx="5715000" cy="1005840"/>
          </a:xfrm>
          <a:prstGeom prst="rect">
            <a:avLst/>
          </a:prstGeom>
          <a:solidFill>
            <a:srgbClr val="F8FAFE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263640" y="2212848"/>
            <a:ext cx="594360" cy="10058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63640" y="248716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76872" y="22860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Filtering, EDA &amp; Preparation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76872" y="2651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ETD/CYCLE strategy, outlier treatment, feature engineering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328416"/>
            <a:ext cx="5715000" cy="1005840"/>
          </a:xfrm>
          <a:prstGeom prst="rect">
            <a:avLst/>
          </a:prstGeom>
          <a:solidFill>
            <a:srgbClr val="F8FAFE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3328416"/>
            <a:ext cx="594360" cy="10058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3602736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87552" y="340156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 Integration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87552" y="37673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Correlation map , Weather statistics , Weather Parameters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63640" y="3328416"/>
            <a:ext cx="5715000" cy="1005840"/>
          </a:xfrm>
          <a:prstGeom prst="rect">
            <a:avLst/>
          </a:prstGeom>
          <a:solidFill>
            <a:srgbClr val="F8FAFE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63640" y="3328416"/>
            <a:ext cx="594360" cy="100584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63640" y="3602736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76872" y="340156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Approach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976872" y="37673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selection, train/test/val split, model choices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4320" y="4443984"/>
            <a:ext cx="5715000" cy="1005840"/>
          </a:xfrm>
          <a:prstGeom prst="rect">
            <a:avLst/>
          </a:prstGeom>
          <a:solidFill>
            <a:srgbClr val="F8FAFE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74320" y="4443984"/>
            <a:ext cx="59436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74320" y="4718304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87552" y="451713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Classification &amp; Regression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87552" y="48828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curves, confusion matrix, AUC, MAE, R² performance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63640" y="4443984"/>
            <a:ext cx="5715000" cy="1005840"/>
          </a:xfrm>
          <a:prstGeom prst="rect">
            <a:avLst/>
          </a:prstGeom>
          <a:solidFill>
            <a:srgbClr val="F8FAFE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263640" y="4443984"/>
            <a:ext cx="594360" cy="10058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263640" y="4718304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976872" y="451713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Feature Importance &amp; Discussion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976872" y="48828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predictions, key findings, answering RQs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74320" y="5559552"/>
            <a:ext cx="5715000" cy="1005840"/>
          </a:xfrm>
          <a:prstGeom prst="rect">
            <a:avLst/>
          </a:prstGeom>
          <a:solidFill>
            <a:srgbClr val="F8FAFE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74320" y="5559552"/>
            <a:ext cx="59436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74320" y="58338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87552" y="563270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, Limitations &amp; Future Work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987552" y="599846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impact, stakeholder value, research extensions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263640" y="5559552"/>
            <a:ext cx="5715000" cy="1005840"/>
          </a:xfrm>
          <a:prstGeom prst="rect">
            <a:avLst/>
          </a:prstGeom>
          <a:solidFill>
            <a:srgbClr val="F8FAFE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263640" y="5559552"/>
            <a:ext cx="59436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263640" y="58338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976872" y="563270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Business Outcomes 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6976872" y="599846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and closing remarks</a:t>
            </a:r>
            <a:endParaRPr lang="en-US" sz="105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4D06D07-CD77-9976-D69F-1C19DEABB3CB}"/>
              </a:ext>
            </a:extLst>
          </p:cNvPr>
          <p:cNvSpPr/>
          <p:nvPr/>
        </p:nvSpPr>
        <p:spPr>
          <a:xfrm>
            <a:off x="0" y="-2128"/>
            <a:ext cx="12191695" cy="852517"/>
          </a:xfrm>
          <a:prstGeom prst="rect">
            <a:avLst/>
          </a:prstGeom>
          <a:solidFill>
            <a:srgbClr val="008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 1">
            <a:extLst>
              <a:ext uri="{FF2B5EF4-FFF2-40B4-BE49-F238E27FC236}">
                <a16:creationId xmlns:a16="http://schemas.microsoft.com/office/drawing/2014/main" id="{A42F6C54-5573-3EDB-8702-5982BDDCBCFD}"/>
              </a:ext>
            </a:extLst>
          </p:cNvPr>
          <p:cNvSpPr/>
          <p:nvPr/>
        </p:nvSpPr>
        <p:spPr>
          <a:xfrm>
            <a:off x="274320" y="54864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60" name="Text 2">
            <a:extLst>
              <a:ext uri="{FF2B5EF4-FFF2-40B4-BE49-F238E27FC236}">
                <a16:creationId xmlns:a16="http://schemas.microsoft.com/office/drawing/2014/main" id="{7D419805-3722-6288-2130-5A88E0C211A5}"/>
              </a:ext>
            </a:extLst>
          </p:cNvPr>
          <p:cNvSpPr/>
          <p:nvPr/>
        </p:nvSpPr>
        <p:spPr>
          <a:xfrm>
            <a:off x="274320" y="506429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Structure — ADTA 5940 Capstone | GROUP-8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24EA870-53A1-6C45-2167-1B333A2657D8}"/>
              </a:ext>
            </a:extLst>
          </p:cNvPr>
          <p:cNvSpPr/>
          <p:nvPr/>
        </p:nvSpPr>
        <p:spPr>
          <a:xfrm>
            <a:off x="256032" y="164592"/>
            <a:ext cx="91440" cy="6583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D8B6A45-0A22-3488-2ECD-F9A4980BBC8C}"/>
              </a:ext>
            </a:extLst>
          </p:cNvPr>
          <p:cNvSpPr/>
          <p:nvPr/>
        </p:nvSpPr>
        <p:spPr>
          <a:xfrm>
            <a:off x="457200" y="128016"/>
            <a:ext cx="11247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Introduction, Context &amp; Background</a:t>
            </a:r>
            <a:endParaRPr lang="en-US" sz="27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2822075-4CB7-D997-97F9-FFEE6A0B3146}"/>
              </a:ext>
            </a:extLst>
          </p:cNvPr>
          <p:cNvSpPr/>
          <p:nvPr/>
        </p:nvSpPr>
        <p:spPr>
          <a:xfrm>
            <a:off x="487680" y="576497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predicting flight delays matters - and why now</a:t>
            </a:r>
            <a:endParaRPr lang="en-US" sz="1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BD4E8D8-C291-B709-25CD-4CE6490EC02D}"/>
              </a:ext>
            </a:extLst>
          </p:cNvPr>
          <p:cNvSpPr/>
          <p:nvPr/>
        </p:nvSpPr>
        <p:spPr>
          <a:xfrm>
            <a:off x="256032" y="950976"/>
            <a:ext cx="11676888" cy="0"/>
          </a:xfrm>
          <a:prstGeom prst="line">
            <a:avLst/>
          </a:prstGeom>
          <a:noFill/>
          <a:ln w="9525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3EA02779-2AC5-42B3-E1C9-B911EC831F63}"/>
              </a:ext>
            </a:extLst>
          </p:cNvPr>
          <p:cNvSpPr/>
          <p:nvPr/>
        </p:nvSpPr>
        <p:spPr>
          <a:xfrm>
            <a:off x="256032" y="1261873"/>
            <a:ext cx="3886200" cy="2250274"/>
          </a:xfrm>
          <a:prstGeom prst="rect">
            <a:avLst/>
          </a:prstGeom>
          <a:solidFill>
            <a:srgbClr val="EBF5FF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F125B45-5775-084B-76BB-8A2ADC72FCFC}"/>
              </a:ext>
            </a:extLst>
          </p:cNvPr>
          <p:cNvSpPr/>
          <p:nvPr/>
        </p:nvSpPr>
        <p:spPr>
          <a:xfrm>
            <a:off x="265176" y="1132156"/>
            <a:ext cx="3886200" cy="40233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C41A0931-EE79-8DAD-1B7C-C87D143267E5}"/>
              </a:ext>
            </a:extLst>
          </p:cNvPr>
          <p:cNvSpPr/>
          <p:nvPr/>
        </p:nvSpPr>
        <p:spPr>
          <a:xfrm>
            <a:off x="384048" y="1161289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 Introduction – Industry Background</a:t>
            </a:r>
            <a:endParaRPr lang="en-US" sz="120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853B9EDC-0A23-715F-60CB-8398ECE592BE}"/>
              </a:ext>
            </a:extLst>
          </p:cNvPr>
          <p:cNvSpPr/>
          <p:nvPr/>
        </p:nvSpPr>
        <p:spPr>
          <a:xfrm>
            <a:off x="384048" y="1625932"/>
            <a:ext cx="3685032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000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003A6C03-62F5-6234-E573-A34F54338720}"/>
              </a:ext>
            </a:extLst>
          </p:cNvPr>
          <p:cNvSpPr/>
          <p:nvPr/>
        </p:nvSpPr>
        <p:spPr>
          <a:xfrm>
            <a:off x="256032" y="3767328"/>
            <a:ext cx="3886200" cy="2580308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5239B980-091B-C57F-5891-DC8921EEADA2}"/>
              </a:ext>
            </a:extLst>
          </p:cNvPr>
          <p:cNvSpPr/>
          <p:nvPr/>
        </p:nvSpPr>
        <p:spPr>
          <a:xfrm>
            <a:off x="265176" y="3768179"/>
            <a:ext cx="3886200" cy="40233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2A035D5E-A327-6882-116E-A48F1215E5E5}"/>
              </a:ext>
            </a:extLst>
          </p:cNvPr>
          <p:cNvSpPr/>
          <p:nvPr/>
        </p:nvSpPr>
        <p:spPr>
          <a:xfrm>
            <a:off x="384048" y="3768179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Business Context &amp; Value</a:t>
            </a:r>
            <a:endParaRPr lang="en-US" sz="1200" dirty="0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1FACEEC6-C152-81F8-8966-ACA8F9CF38E9}"/>
              </a:ext>
            </a:extLst>
          </p:cNvPr>
          <p:cNvSpPr/>
          <p:nvPr/>
        </p:nvSpPr>
        <p:spPr>
          <a:xfrm>
            <a:off x="444760" y="4425696"/>
            <a:ext cx="3508744" cy="1662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000" dirty="0"/>
              <a:t>Delays cost billions in fuel, crew, and passenger compensation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000" dirty="0"/>
              <a:t>Small improvements can save millions annually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000" dirty="0"/>
              <a:t>Delays create cascading effects across connected flights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000" dirty="0"/>
              <a:t>Early prediction helps optimize crew, gates, passenger planning 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CBDA755C-894A-2D91-3650-74BDEE903CD5}"/>
              </a:ext>
            </a:extLst>
          </p:cNvPr>
          <p:cNvSpPr/>
          <p:nvPr/>
        </p:nvSpPr>
        <p:spPr>
          <a:xfrm>
            <a:off x="4323627" y="1305467"/>
            <a:ext cx="3657600" cy="2250274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492B5D11-7D7A-C772-F8D0-6AC40F6E32B3}"/>
              </a:ext>
            </a:extLst>
          </p:cNvPr>
          <p:cNvSpPr/>
          <p:nvPr/>
        </p:nvSpPr>
        <p:spPr>
          <a:xfrm>
            <a:off x="4315968" y="1155571"/>
            <a:ext cx="3657600" cy="402336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7">
            <a:extLst>
              <a:ext uri="{FF2B5EF4-FFF2-40B4-BE49-F238E27FC236}">
                <a16:creationId xmlns:a16="http://schemas.microsoft.com/office/drawing/2014/main" id="{C29779D7-C142-89C8-E784-3BEEB8BF193B}"/>
              </a:ext>
            </a:extLst>
          </p:cNvPr>
          <p:cNvSpPr/>
          <p:nvPr/>
        </p:nvSpPr>
        <p:spPr>
          <a:xfrm>
            <a:off x="4443984" y="1181487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DFW Airport Context</a:t>
            </a:r>
            <a:endParaRPr lang="en-US" sz="1200" dirty="0"/>
          </a:p>
        </p:txBody>
      </p:sp>
      <p:sp>
        <p:nvSpPr>
          <p:cNvPr id="28" name="Text 28">
            <a:extLst>
              <a:ext uri="{FF2B5EF4-FFF2-40B4-BE49-F238E27FC236}">
                <a16:creationId xmlns:a16="http://schemas.microsoft.com/office/drawing/2014/main" id="{923465A6-D77C-EB66-2BDF-EB5FD73C74BE}"/>
              </a:ext>
            </a:extLst>
          </p:cNvPr>
          <p:cNvSpPr/>
          <p:nvPr/>
        </p:nvSpPr>
        <p:spPr>
          <a:xfrm>
            <a:off x="4424211" y="1843882"/>
            <a:ext cx="3456432" cy="1346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000" dirty="0"/>
              <a:t>Major hub for American Airlines &amp; American Eagle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000" dirty="0"/>
              <a:t>One of the busiest airports globally (~900+ daily flights)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000" dirty="0"/>
              <a:t>Located in a region with severe weather (storms, ice, thunderstorms)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000" dirty="0"/>
              <a:t>Frequent FAA ground delay programs impact operations </a:t>
            </a:r>
          </a:p>
          <a:p>
            <a:endParaRPr lang="en-US" sz="1000" dirty="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16F3F2A9-4024-B517-CEB8-3760B9434C9A}"/>
              </a:ext>
            </a:extLst>
          </p:cNvPr>
          <p:cNvSpPr/>
          <p:nvPr/>
        </p:nvSpPr>
        <p:spPr>
          <a:xfrm>
            <a:off x="4315968" y="3749888"/>
            <a:ext cx="3657600" cy="2597747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A4DB6084-D347-DE47-A00B-C11A44785D4C}"/>
              </a:ext>
            </a:extLst>
          </p:cNvPr>
          <p:cNvSpPr/>
          <p:nvPr/>
        </p:nvSpPr>
        <p:spPr>
          <a:xfrm>
            <a:off x="4306824" y="3749889"/>
            <a:ext cx="3657600" cy="40233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31">
            <a:extLst>
              <a:ext uri="{FF2B5EF4-FFF2-40B4-BE49-F238E27FC236}">
                <a16:creationId xmlns:a16="http://schemas.microsoft.com/office/drawing/2014/main" id="{EE73189C-B1D8-479A-02DB-220429FCBE40}"/>
              </a:ext>
            </a:extLst>
          </p:cNvPr>
          <p:cNvSpPr/>
          <p:nvPr/>
        </p:nvSpPr>
        <p:spPr>
          <a:xfrm>
            <a:off x="4443984" y="3768179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Gaps in Research</a:t>
            </a:r>
            <a:endParaRPr lang="en-US" sz="1200" dirty="0"/>
          </a:p>
        </p:txBody>
      </p:sp>
      <p:sp>
        <p:nvSpPr>
          <p:cNvPr id="33" name="Text 33">
            <a:extLst>
              <a:ext uri="{FF2B5EF4-FFF2-40B4-BE49-F238E27FC236}">
                <a16:creationId xmlns:a16="http://schemas.microsoft.com/office/drawing/2014/main" id="{C4D77E53-3874-8789-AAD8-3694D8702522}"/>
              </a:ext>
            </a:extLst>
          </p:cNvPr>
          <p:cNvSpPr/>
          <p:nvPr/>
        </p:nvSpPr>
        <p:spPr>
          <a:xfrm>
            <a:off x="4544568" y="4352543"/>
            <a:ext cx="336499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0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8" name="Shape 48">
            <a:extLst>
              <a:ext uri="{FF2B5EF4-FFF2-40B4-BE49-F238E27FC236}">
                <a16:creationId xmlns:a16="http://schemas.microsoft.com/office/drawing/2014/main" id="{8E22A2AA-AA2B-62C8-C32E-B4A5D5718CC9}"/>
              </a:ext>
            </a:extLst>
          </p:cNvPr>
          <p:cNvSpPr/>
          <p:nvPr/>
        </p:nvSpPr>
        <p:spPr>
          <a:xfrm>
            <a:off x="8162622" y="1355644"/>
            <a:ext cx="3794760" cy="2221141"/>
          </a:xfrm>
          <a:prstGeom prst="rect">
            <a:avLst/>
          </a:prstGeom>
          <a:solidFill>
            <a:srgbClr val="FBE9E7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CCF00FC7-3D70-EF24-8397-4DCFE9218E76}"/>
              </a:ext>
            </a:extLst>
          </p:cNvPr>
          <p:cNvSpPr/>
          <p:nvPr/>
        </p:nvSpPr>
        <p:spPr>
          <a:xfrm>
            <a:off x="8162622" y="1161755"/>
            <a:ext cx="3794760" cy="44848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50">
            <a:extLst>
              <a:ext uri="{FF2B5EF4-FFF2-40B4-BE49-F238E27FC236}">
                <a16:creationId xmlns:a16="http://schemas.microsoft.com/office/drawing/2014/main" id="{D5626F73-ECDF-34D1-517B-BFD472615B25}"/>
              </a:ext>
            </a:extLst>
          </p:cNvPr>
          <p:cNvSpPr/>
          <p:nvPr/>
        </p:nvSpPr>
        <p:spPr>
          <a:xfrm>
            <a:off x="8266176" y="119105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Prior Research</a:t>
            </a:r>
            <a:endParaRPr lang="en-US" sz="1200" dirty="0"/>
          </a:p>
        </p:txBody>
      </p:sp>
      <p:sp>
        <p:nvSpPr>
          <p:cNvPr id="51" name="Text 51">
            <a:extLst>
              <a:ext uri="{FF2B5EF4-FFF2-40B4-BE49-F238E27FC236}">
                <a16:creationId xmlns:a16="http://schemas.microsoft.com/office/drawing/2014/main" id="{B6ED0C4D-46CC-6BEA-7BA1-9A3CC9391DC9}"/>
              </a:ext>
            </a:extLst>
          </p:cNvPr>
          <p:cNvSpPr/>
          <p:nvPr/>
        </p:nvSpPr>
        <p:spPr>
          <a:xfrm>
            <a:off x="8284464" y="1632883"/>
            <a:ext cx="3593592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000" dirty="0"/>
              <a:t>Random Forest models achieved ~75% accuracy (Choi et al.)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000" dirty="0"/>
              <a:t>LSTM models used for delay propagation (Sternberg et al.)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000" dirty="0"/>
              <a:t>Most studies focus on post-departure predictions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000" dirty="0"/>
              <a:t>Limited use of real-time ETD signals and detailed weather integration </a:t>
            </a:r>
          </a:p>
        </p:txBody>
      </p:sp>
      <p:sp>
        <p:nvSpPr>
          <p:cNvPr id="52" name="Shape 52">
            <a:extLst>
              <a:ext uri="{FF2B5EF4-FFF2-40B4-BE49-F238E27FC236}">
                <a16:creationId xmlns:a16="http://schemas.microsoft.com/office/drawing/2014/main" id="{E24220B8-59F9-E98B-D49F-DE8EFB8D4C29}"/>
              </a:ext>
            </a:extLst>
          </p:cNvPr>
          <p:cNvSpPr/>
          <p:nvPr/>
        </p:nvSpPr>
        <p:spPr>
          <a:xfrm>
            <a:off x="8138160" y="3749887"/>
            <a:ext cx="3794760" cy="2597747"/>
          </a:xfrm>
          <a:prstGeom prst="rect">
            <a:avLst/>
          </a:prstGeom>
          <a:solidFill>
            <a:srgbClr val="E8F5E9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F9A1E951-BA76-475A-0723-CCE2F6360B66}"/>
              </a:ext>
            </a:extLst>
          </p:cNvPr>
          <p:cNvSpPr/>
          <p:nvPr/>
        </p:nvSpPr>
        <p:spPr>
          <a:xfrm>
            <a:off x="8138160" y="3758609"/>
            <a:ext cx="3794760" cy="41190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EAA5EB9F-A469-7671-5CD5-9814C5CE97CD}"/>
              </a:ext>
            </a:extLst>
          </p:cNvPr>
          <p:cNvSpPr/>
          <p:nvPr/>
        </p:nvSpPr>
        <p:spPr>
          <a:xfrm>
            <a:off x="8257032" y="3781255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This Project's Contribution</a:t>
            </a:r>
            <a:endParaRPr lang="en-US" sz="1200" dirty="0"/>
          </a:p>
        </p:txBody>
      </p:sp>
      <p:sp>
        <p:nvSpPr>
          <p:cNvPr id="56" name="Text 56">
            <a:extLst>
              <a:ext uri="{FF2B5EF4-FFF2-40B4-BE49-F238E27FC236}">
                <a16:creationId xmlns:a16="http://schemas.microsoft.com/office/drawing/2014/main" id="{839BE4AC-4274-0F56-C4BA-4838077F89DE}"/>
              </a:ext>
            </a:extLst>
          </p:cNvPr>
          <p:cNvSpPr/>
          <p:nvPr/>
        </p:nvSpPr>
        <p:spPr>
          <a:xfrm>
            <a:off x="8367823" y="4324474"/>
            <a:ext cx="3491945" cy="1720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950" dirty="0"/>
          </a:p>
        </p:txBody>
      </p:sp>
      <p:sp>
        <p:nvSpPr>
          <p:cNvPr id="65" name="Text 4">
            <a:extLst>
              <a:ext uri="{FF2B5EF4-FFF2-40B4-BE49-F238E27FC236}">
                <a16:creationId xmlns:a16="http://schemas.microsoft.com/office/drawing/2014/main" id="{C866BA97-627B-B650-4401-D9CF94D2A86E}"/>
              </a:ext>
            </a:extLst>
          </p:cNvPr>
          <p:cNvSpPr/>
          <p:nvPr/>
        </p:nvSpPr>
        <p:spPr>
          <a:xfrm>
            <a:off x="27432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Delay Prediction — DFW  |  ADTA 5940 Capstone  |  GROUP-8  |  University of North Texas</a:t>
            </a:r>
            <a:endParaRPr lang="en-US" sz="800" dirty="0"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333F36B9-F3DD-FFC2-C20E-CA88E7D01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77023"/>
            <a:ext cx="356105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000" i="0" u="none" strike="noStrike" cap="none" normalizeH="0" baseline="0" dirty="0">
                <a:ln>
                  <a:noFill/>
                </a:ln>
                <a:effectLst/>
              </a:rPr>
              <a:t>Flight delays cause major operational and financial challenges </a:t>
            </a:r>
          </a:p>
          <a:p>
            <a:pPr marL="17145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000" dirty="0"/>
              <a:t>$33B annual cost in the U.S. aviation industry </a:t>
            </a:r>
          </a:p>
          <a:p>
            <a:pPr marL="17145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000" dirty="0"/>
              <a:t>$22% of flights arrive late each year</a:t>
            </a:r>
          </a:p>
          <a:p>
            <a:pPr marL="17145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000" dirty="0"/>
              <a:t>Major causes: carrier, NAS, weather, late aircraft</a:t>
            </a:r>
            <a:endParaRPr lang="en-US" altLang="en-US" sz="1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449D4F21-E848-B086-4298-DB41058F6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7286" y="4702685"/>
            <a:ext cx="3239555" cy="991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000" dirty="0"/>
              <a:t>ETD (real-time airline updates) underutilized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Weather data often aggregated, not flight-specific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Historical delay features may introduce data leakage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Limited focus on real-time, production-ready systems </a:t>
            </a:r>
          </a:p>
        </p:txBody>
      </p:sp>
      <p:sp>
        <p:nvSpPr>
          <p:cNvPr id="32" name="Rectangle 9">
            <a:extLst>
              <a:ext uri="{FF2B5EF4-FFF2-40B4-BE49-F238E27FC236}">
                <a16:creationId xmlns:a16="http://schemas.microsoft.com/office/drawing/2014/main" id="{F2AE7F52-7436-50C5-F63C-6644F7E88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630" y="4471481"/>
            <a:ext cx="3376690" cy="1268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2.7M ETA records (2021–2025) from airline systems </a:t>
            </a:r>
          </a:p>
          <a:p>
            <a:pPr marL="171450" marR="0" lvl="0" indent="-1714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Integrated hourly DFW weather from Open-Metro API </a:t>
            </a:r>
          </a:p>
          <a:p>
            <a:pPr marL="171450" marR="0" lvl="0" indent="-1714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ETD-priority + CYCLE fallback data strategy </a:t>
            </a:r>
          </a:p>
          <a:p>
            <a:pPr marL="171450" marR="0" lvl="0" indent="-1714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Leakage-free feature engineering with temporal validation </a:t>
            </a:r>
          </a:p>
        </p:txBody>
      </p:sp>
    </p:spTree>
    <p:extLst>
      <p:ext uri="{BB962C8B-B14F-4D97-AF65-F5344CB8AC3E}">
        <p14:creationId xmlns:p14="http://schemas.microsoft.com/office/powerpoint/2010/main" val="929880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73152" cy="594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Research Questions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and real-world operational value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1612880" cy="0"/>
          </a:xfrm>
          <a:prstGeom prst="line">
            <a:avLst/>
          </a:prstGeom>
          <a:noFill/>
          <a:ln w="9525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Delay Prediction — DFW  |  ADTA 5940 Capstone  |  GROUP-8  |  University of North Texas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70432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11612880" cy="1261872"/>
          </a:xfrm>
          <a:prstGeom prst="rect">
            <a:avLst/>
          </a:prstGeom>
          <a:solidFill>
            <a:srgbClr val="FFF3E0"/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109728" cy="12618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14300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1508760"/>
            <a:ext cx="11155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Current airline systems report flight delays reactively - passengers and airline personnel know about delays after they happen. Here we create a predictive, data-driven ML pipeline that predicts whether a DFW flight will be delayed (binary classification) and how many minutes late it will be (regression) using real-time in-flight ETD messages and hourly DFW weather at the hour of departure as input features.</a:t>
            </a:r>
          </a:p>
        </p:txBody>
      </p:sp>
      <p:sp>
        <p:nvSpPr>
          <p:cNvPr id="12" name="Text 10"/>
          <p:cNvSpPr/>
          <p:nvPr/>
        </p:nvSpPr>
        <p:spPr>
          <a:xfrm>
            <a:off x="274320" y="251460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6615578" cy="804672"/>
          </a:xfrm>
          <a:prstGeom prst="rect">
            <a:avLst/>
          </a:prstGeom>
          <a:solidFill>
            <a:srgbClr val="F5F9FF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640080" cy="8046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31089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4128" y="296265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24127" y="3273552"/>
            <a:ext cx="570628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Can we accurately predict whether a DFW flight will arrive delayed using in-flight ETD messages and weather conditions?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4400" y="3849624"/>
            <a:ext cx="5975498" cy="804672"/>
          </a:xfrm>
          <a:prstGeom prst="rect">
            <a:avLst/>
          </a:prstGeom>
          <a:solidFill>
            <a:srgbClr val="F5F9FF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3840480"/>
            <a:ext cx="640080" cy="8046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40233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4128" y="387705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Magnitude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24128" y="4187952"/>
            <a:ext cx="570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many minutes of arrival delay can be predicted from departure signals — and which features drive the predicted duration?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4754880"/>
            <a:ext cx="6615578" cy="804672"/>
          </a:xfrm>
          <a:prstGeom prst="rect">
            <a:avLst/>
          </a:prstGeom>
          <a:solidFill>
            <a:srgbClr val="F5F9FF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4754880"/>
            <a:ext cx="640080" cy="8046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937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24128" y="479145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Impact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24127" y="5102352"/>
            <a:ext cx="559910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Which DFW weather variables (precipitation, weathercode, pressure) are most statistically significant predictors of delay?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5669280"/>
            <a:ext cx="6615578" cy="804672"/>
          </a:xfrm>
          <a:prstGeom prst="rect">
            <a:avLst/>
          </a:prstGeom>
          <a:solidFill>
            <a:srgbClr val="F5F9FF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5669280"/>
            <a:ext cx="640080" cy="8046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5852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24128" y="5705856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Generalizability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24128" y="6016752"/>
            <a:ext cx="5599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Can a temporally trained model generalize to held-out future flights without data leakage across a 70/20/10 split?</a:t>
            </a:r>
            <a:endParaRPr lang="en-US" sz="1050" dirty="0"/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4CBF95CC-800D-A44E-2061-FBEE846E1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363" y="2874610"/>
            <a:ext cx="4061637" cy="35993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73152" cy="59436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Filtering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ETD event selection strategy &amp; class balance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1612880" cy="0"/>
          </a:xfrm>
          <a:prstGeom prst="line">
            <a:avLst/>
          </a:prstGeom>
          <a:noFill/>
          <a:ln w="9525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Delay Prediction — DFW  |  ADTA 5940 Capstone  |  GROUP-8  |  University of North Texas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70432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10515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— Flight Data Processing Pipeline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91844"/>
            <a:ext cx="5647422" cy="30344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0" y="10515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— Class Balance by Event Type</a:t>
            </a:r>
            <a:endParaRPr lang="en-US" sz="13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765796"/>
            <a:ext cx="4363336" cy="266237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4320" y="4892040"/>
            <a:ext cx="2651760" cy="9601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274320" y="4937760"/>
            <a:ext cx="26517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288,806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274320" y="5512141"/>
            <a:ext cx="265176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ETD in-flight records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182112" y="4892040"/>
            <a:ext cx="2651760" cy="9601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182112" y="4937760"/>
            <a:ext cx="26517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834,003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3182112" y="5511546"/>
            <a:ext cx="265176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fallback records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089904" y="4892040"/>
            <a:ext cx="2651760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089904" y="4937760"/>
            <a:ext cx="26517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1,122,809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6089904" y="5511546"/>
            <a:ext cx="265176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ML dataset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8997696" y="4892040"/>
            <a:ext cx="2651760" cy="9601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8997696" y="4937760"/>
            <a:ext cx="26517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35.9%</a:t>
            </a:r>
            <a:endParaRPr lang="en-US" sz="2600" dirty="0"/>
          </a:p>
        </p:txBody>
      </p:sp>
      <p:sp>
        <p:nvSpPr>
          <p:cNvPr id="23" name="Text 19"/>
          <p:cNvSpPr/>
          <p:nvPr/>
        </p:nvSpPr>
        <p:spPr>
          <a:xfrm>
            <a:off x="8997696" y="5486400"/>
            <a:ext cx="265176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delay rate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274320" y="594360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ETD flights have the highest signal richness — in-air transmissions give real-time departure status. CYCLE records fill coverage for flights without ETD updates.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73152" cy="5943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 Integration - DFW (2021–2025)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87680" y="574836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API: 20 variables at exact departure hour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3346" y="914400"/>
            <a:ext cx="11612880" cy="0"/>
          </a:xfrm>
          <a:prstGeom prst="line">
            <a:avLst/>
          </a:prstGeom>
          <a:noFill/>
          <a:ln w="9525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Delay Prediction — DFW  |  ADTA 5940 Capstone  |  GROUP-8  |  University of North Texas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70432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Weather Correlation Heatmap (incl. Targets)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742486" y="4140915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Parameters Summary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608080"/>
              </p:ext>
            </p:extLst>
          </p:nvPr>
        </p:nvGraphicFramePr>
        <p:xfrm>
          <a:off x="7772400" y="1237576"/>
          <a:ext cx="4190434" cy="2825441"/>
        </p:xfrm>
        <a:graphic>
          <a:graphicData uri="http://schemas.openxmlformats.org/drawingml/2006/table">
            <a:tbl>
              <a:tblPr/>
              <a:tblGrid>
                <a:gridCol w="1709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9219">
                  <a:extLst>
                    <a:ext uri="{9D8B030D-6E8A-4147-A177-3AD203B41FA5}">
                      <a16:colId xmlns:a16="http://schemas.microsoft.com/office/drawing/2014/main" val="3845351910"/>
                    </a:ext>
                  </a:extLst>
                </a:gridCol>
                <a:gridCol w="606056">
                  <a:extLst>
                    <a:ext uri="{9D8B030D-6E8A-4147-A177-3AD203B41FA5}">
                      <a16:colId xmlns:a16="http://schemas.microsoft.com/office/drawing/2014/main" val="1857834374"/>
                    </a:ext>
                  </a:extLst>
                </a:gridCol>
                <a:gridCol w="606055">
                  <a:extLst>
                    <a:ext uri="{9D8B030D-6E8A-4147-A177-3AD203B41FA5}">
                      <a16:colId xmlns:a16="http://schemas.microsoft.com/office/drawing/2014/main" val="267566065"/>
                    </a:ext>
                  </a:extLst>
                </a:gridCol>
                <a:gridCol w="609246">
                  <a:extLst>
                    <a:ext uri="{9D8B030D-6E8A-4147-A177-3AD203B41FA5}">
                      <a16:colId xmlns:a16="http://schemas.microsoft.com/office/drawing/2014/main" val="2057909548"/>
                    </a:ext>
                  </a:extLst>
                </a:gridCol>
              </a:tblGrid>
              <a:tr h="2538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Mean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Std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Min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50%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441">
                <a:tc>
                  <a:txBody>
                    <a:bodyPr/>
                    <a:lstStyle/>
                    <a:p>
                      <a:pPr algn="l" latinLnBrk="1"/>
                      <a:r>
                        <a:rPr lang="en-US" sz="10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dfw_temperature_2m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chemeClr val="tx1"/>
                          </a:solidFill>
                        </a:rPr>
                        <a:t>21.2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chemeClr val="tx1"/>
                          </a:solidFill>
                        </a:rPr>
                        <a:t>9.9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chemeClr val="tx1"/>
                          </a:solidFill>
                        </a:rPr>
                        <a:t>-17.5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chemeClr val="tx1"/>
                          </a:solidFill>
                        </a:rPr>
                        <a:t>22.4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4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dfw_pressure_msl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chemeClr val="tx1"/>
                          </a:solidFill>
                        </a:rPr>
                        <a:t>1016.1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chemeClr val="tx1"/>
                          </a:solidFill>
                        </a:rPr>
                        <a:t>6.8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chemeClr val="tx1"/>
                          </a:solidFill>
                        </a:rPr>
                        <a:t>992.8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chemeClr val="tx1"/>
                          </a:solidFill>
                        </a:rPr>
                        <a:t>1015.2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4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dfw_surface_pressure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chemeClr val="tx1"/>
                          </a:solidFill>
                        </a:rPr>
                        <a:t>994.9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chemeClr val="tx1"/>
                          </a:solidFill>
                        </a:rPr>
                        <a:t>6.2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chemeClr val="tx1"/>
                          </a:solidFill>
                        </a:rPr>
                        <a:t>972.2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dirty="0">
                          <a:solidFill>
                            <a:schemeClr val="tx1"/>
                          </a:solidFill>
                        </a:rPr>
                        <a:t>994.4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5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dfw_dewpoint_2m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12.076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9.084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-27.0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14.5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4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dfw_apparent_temperature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20.760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12.219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-22.7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22.4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4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dfw_relativehumidity_2m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59.882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20.081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8.0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60.0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4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dfw_rain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0.166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0.961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</a:t>
                      </a:r>
                      <a:endParaRPr lang="en-US" sz="10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100322"/>
                  </a:ext>
                </a:extLst>
              </a:tr>
              <a:tr h="3314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dfw_winddirection_10m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169.874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90.475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170.0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262581"/>
                  </a:ext>
                </a:extLst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5852158"/>
            <a:ext cx="741181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Pressure drop &amp; precipitation flags are the strongest weather signals. Weathercode (WMO) captures storm severity.</a:t>
            </a:r>
            <a:endParaRPr lang="en-US" sz="1100" dirty="0"/>
          </a:p>
        </p:txBody>
      </p:sp>
      <p:graphicFrame>
        <p:nvGraphicFramePr>
          <p:cNvPr id="22" name="Table 0">
            <a:extLst>
              <a:ext uri="{FF2B5EF4-FFF2-40B4-BE49-F238E27FC236}">
                <a16:creationId xmlns:a16="http://schemas.microsoft.com/office/drawing/2014/main" id="{C3BBC2A3-DC20-7B96-D0C5-8359350CF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005586"/>
              </p:ext>
            </p:extLst>
          </p:nvPr>
        </p:nvGraphicFramePr>
        <p:xfrm>
          <a:off x="7772400" y="4491874"/>
          <a:ext cx="3990399" cy="2011680"/>
        </p:xfrm>
        <a:graphic>
          <a:graphicData uri="http://schemas.openxmlformats.org/drawingml/2006/table">
            <a:tbl>
              <a:tblPr/>
              <a:tblGrid>
                <a:gridCol w="9462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4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temp_2m, apparent_temp, dewpoint_2m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Precipitation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precipitation, rain, snowfall, snow_depth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pressure_msl, surface_pressure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windspeed_10m, windgusts_10m, winddirection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/ Vis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cloudcover, cloudcover_low, weathercode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/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shortwave_radiation, sunshine_duration, is_day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9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Flags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wx_severity, is_precip, high_wind, fog_risk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3" name="Text 8">
            <a:extLst>
              <a:ext uri="{FF2B5EF4-FFF2-40B4-BE49-F238E27FC236}">
                <a16:creationId xmlns:a16="http://schemas.microsoft.com/office/drawing/2014/main" id="{8D5DD23D-8C25-54B1-0627-F94A4D752455}"/>
              </a:ext>
            </a:extLst>
          </p:cNvPr>
          <p:cNvSpPr/>
          <p:nvPr/>
        </p:nvSpPr>
        <p:spPr>
          <a:xfrm>
            <a:off x="7772400" y="917535"/>
            <a:ext cx="23933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Statistics</a:t>
            </a:r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A25AB8-0AC4-1CF4-7DAC-A8C599F15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527058"/>
            <a:ext cx="6868959" cy="42199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73152" cy="59436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delay patterns across hours, days, and months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1612880" cy="0"/>
          </a:xfrm>
          <a:prstGeom prst="line">
            <a:avLst/>
          </a:prstGeom>
          <a:noFill/>
          <a:ln w="9525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Delay Prediction — DFW  |  ADTA 5940 Capstone  |  GROUP-8  |  University of North Texas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70432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83476" y="1078992"/>
            <a:ext cx="49781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Observations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909036" y="1545337"/>
            <a:ext cx="4978164" cy="804672"/>
          </a:xfrm>
          <a:prstGeom prst="rect">
            <a:avLst/>
          </a:prstGeom>
          <a:solidFill>
            <a:srgbClr val="F0F6FF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071691" y="1581417"/>
            <a:ext cx="44752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Effect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071691" y="1844019"/>
            <a:ext cx="4632629" cy="461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Delays peak at midnight (85%) and rise steadily from 4 PM, reflecting compounding network effects and evening congestion.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921251" y="4075352"/>
            <a:ext cx="4965949" cy="935559"/>
          </a:xfrm>
          <a:prstGeom prst="rect">
            <a:avLst/>
          </a:prstGeom>
          <a:solidFill>
            <a:srgbClr val="F0F6FF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071691" y="4238949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Pattern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071691" y="4523051"/>
            <a:ext cx="463262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Thursday &amp; Friday show highest delays — business travel peaks. Sunday surprisingly low.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909036" y="5385815"/>
            <a:ext cx="4965950" cy="965753"/>
          </a:xfrm>
          <a:prstGeom prst="rect">
            <a:avLst/>
          </a:prstGeom>
          <a:solidFill>
            <a:srgbClr val="F0F6FF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071691" y="5474027"/>
            <a:ext cx="4632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ETD Signal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109175" y="5777663"/>
            <a:ext cx="4783069" cy="518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Strong linear relationship between ETD push and arrival delay — validates ETD as core predictor.</a:t>
            </a:r>
            <a:endParaRPr lang="en-US" sz="11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9666005-D77C-FED5-92F3-3CBC2B49E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2252" y="3753681"/>
            <a:ext cx="2958571" cy="228328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08E9CFC-4AA3-E6D5-107E-6E4CF339D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2252" y="1283029"/>
            <a:ext cx="2918041" cy="249500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E3E173C-9466-BC1D-6C57-E33BBE2081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25" y="3538231"/>
            <a:ext cx="3414776" cy="2405865"/>
          </a:xfrm>
          <a:prstGeom prst="rect">
            <a:avLst/>
          </a:prstGeom>
        </p:spPr>
      </p:pic>
      <p:sp>
        <p:nvSpPr>
          <p:cNvPr id="33" name="Shape 13">
            <a:extLst>
              <a:ext uri="{FF2B5EF4-FFF2-40B4-BE49-F238E27FC236}">
                <a16:creationId xmlns:a16="http://schemas.microsoft.com/office/drawing/2014/main" id="{C19992D5-128C-1E0F-F0F7-4C1D18D5DC42}"/>
              </a:ext>
            </a:extLst>
          </p:cNvPr>
          <p:cNvSpPr/>
          <p:nvPr/>
        </p:nvSpPr>
        <p:spPr>
          <a:xfrm>
            <a:off x="6921251" y="2718937"/>
            <a:ext cx="4965949" cy="965753"/>
          </a:xfrm>
          <a:prstGeom prst="rect">
            <a:avLst/>
          </a:prstGeom>
          <a:solidFill>
            <a:srgbClr val="F0F6FF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81C17D0E-ED3A-02C7-EA1F-FC256312C15B}"/>
              </a:ext>
            </a:extLst>
          </p:cNvPr>
          <p:cNvSpPr/>
          <p:nvPr/>
        </p:nvSpPr>
        <p:spPr>
          <a:xfrm>
            <a:off x="7071691" y="279053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Seasonal</a:t>
            </a:r>
            <a:endParaRPr lang="en-US" sz="1150" dirty="0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37D8CEEE-E65F-96BE-1E1B-0BA7D402ABD3}"/>
              </a:ext>
            </a:extLst>
          </p:cNvPr>
          <p:cNvSpPr/>
          <p:nvPr/>
        </p:nvSpPr>
        <p:spPr>
          <a:xfrm>
            <a:off x="7114221" y="3150322"/>
            <a:ext cx="4772979" cy="427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Summer (Jun–Jul) peaks at 43%+ delay rate — convective storm season in DFW. October lowest.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9DBC42-6C72-9B52-3C31-84AEF6F64B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005" y="1461971"/>
            <a:ext cx="3442762" cy="23352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73152" cy="59436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Feature Engineering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outlier treatment, and feature construction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1612880" cy="0"/>
          </a:xfrm>
          <a:prstGeom prst="line">
            <a:avLst/>
          </a:prstGeom>
          <a:noFill/>
          <a:ln w="9525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Delay Prediction — DFW  |  ADTA 5940 Capstone  |  GROUP-8  |  University of North Texas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70432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1051560"/>
            <a:ext cx="1161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Treatment — Before &amp; After Winsorization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4801" y="1362563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Outliers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7360"/>
            <a:ext cx="5339671" cy="163635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17920" y="12801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Outliers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19" y="1682390"/>
            <a:ext cx="5669280" cy="17373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4801" y="353867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Summary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979959"/>
              </p:ext>
            </p:extLst>
          </p:nvPr>
        </p:nvGraphicFramePr>
        <p:xfrm>
          <a:off x="306219" y="3928518"/>
          <a:ext cx="5637381" cy="2510002"/>
        </p:xfrm>
        <a:graphic>
          <a:graphicData uri="http://schemas.openxmlformats.org/drawingml/2006/table">
            <a:tbl>
              <a:tblPr/>
              <a:tblGrid>
                <a:gridCol w="16182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1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8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1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MINS_TO_SCHD_DEP_QTY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ETD Signal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Minutes from ETD message to scheduled departure (negative = in-air)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1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etd_departure_delay_min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ETD Signal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ETD-to-scheduled-departure offset in minutes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1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etd_volatility_min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ETD Signal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 across ETD message updates for same flight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1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peak_x_etd_delay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Peak-hour flag × ETD delay 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1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flight_nbr_hist_delay_rate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Expanding mean delay rate per flight number (no leakage)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1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dep_month_sin / cos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Cyclical encoding of departure 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1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dfw_weathercode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WMO weather condition code at departure hour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5" name="Table 0">
            <a:extLst>
              <a:ext uri="{FF2B5EF4-FFF2-40B4-BE49-F238E27FC236}">
                <a16:creationId xmlns:a16="http://schemas.microsoft.com/office/drawing/2014/main" id="{58390327-98F3-9032-98E0-53F9DFB504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564334"/>
              </p:ext>
            </p:extLst>
          </p:nvPr>
        </p:nvGraphicFramePr>
        <p:xfrm>
          <a:off x="6096001" y="3928517"/>
          <a:ext cx="5821680" cy="2509998"/>
        </p:xfrm>
        <a:graphic>
          <a:graphicData uri="http://schemas.openxmlformats.org/drawingml/2006/table">
            <a:tbl>
              <a:tblPr/>
              <a:tblGrid>
                <a:gridCol w="19538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62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79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8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FLIGHT_DISTANCE_KME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Circle distance between origin and destination (km), captures route length and baseline travel time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9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route_freq 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frequency of the route ( DFW_ARRIVAL )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8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schd_expected_flight_duration 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Baseline expected travel time calculated as the difference between scheduled arrival and departure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9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peak_x_distance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Interaction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Peak-hour flag × distance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8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updates_so_far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ETD Signal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Number of updates received for the flight; proxy for monitoring intensity and disruption.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7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dep_hour / dayofweek / month / is_weekend / is_holiday_season / is_peak_hour / year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/>
                        <a:t>Departure-time features capturing hourly, weekly, and seasonal patterns along with flags for weekend, holiday season, and peak traffic periods.</a:t>
                      </a:r>
                      <a:endParaRPr lang="en-US" sz="100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73152" cy="59436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&amp; Modeling Approach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Leakage-free temporal split with 37 final features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1612880" cy="0"/>
          </a:xfrm>
          <a:prstGeom prst="line">
            <a:avLst/>
          </a:prstGeom>
          <a:noFill/>
          <a:ln w="9525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Delay Prediction — DFW  |  ADTA 5940 Capstone  |  GROUP-8  |  University of North Texas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70432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132320" y="10515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Strategy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132320" y="1508760"/>
            <a:ext cx="4754880" cy="12344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269480" y="1572767"/>
            <a:ext cx="4480560" cy="500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Classification (</a:t>
            </a:r>
            <a:r>
              <a:rPr lang="en-US" sz="1200" dirty="0">
                <a:solidFill>
                  <a:schemeClr val="bg1"/>
                </a:solidFill>
              </a:rPr>
              <a:t>Predict whether a flight departing from DFW will arrive delayed)</a:t>
            </a:r>
          </a:p>
        </p:txBody>
      </p:sp>
      <p:sp>
        <p:nvSpPr>
          <p:cNvPr id="13" name="Text 10"/>
          <p:cNvSpPr/>
          <p:nvPr/>
        </p:nvSpPr>
        <p:spPr>
          <a:xfrm>
            <a:off x="7269480" y="194767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is_delayed (binary)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optimized via F1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132320" y="2926080"/>
            <a:ext cx="4754880" cy="1234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269480" y="29900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Regression ( E</a:t>
            </a:r>
            <a:r>
              <a:rPr lang="en-US" sz="1200" dirty="0">
                <a:solidFill>
                  <a:schemeClr val="bg1"/>
                </a:solidFill>
              </a:rPr>
              <a:t>stimate the expected arrival delay in minutes )</a:t>
            </a:r>
          </a:p>
        </p:txBody>
      </p:sp>
      <p:sp>
        <p:nvSpPr>
          <p:cNvPr id="16" name="Text 13"/>
          <p:cNvSpPr/>
          <p:nvPr/>
        </p:nvSpPr>
        <p:spPr>
          <a:xfrm>
            <a:off x="7269480" y="336499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log(delay_minutes)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Back-transformed to minutes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132320" y="4480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Train / Test / Val Split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930974"/>
              </p:ext>
            </p:extLst>
          </p:nvPr>
        </p:nvGraphicFramePr>
        <p:xfrm>
          <a:off x="7132320" y="4846320"/>
          <a:ext cx="4754880" cy="15087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3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51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(70%)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767,326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2021 – ~Sep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(20%)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219,236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2024 – ~May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(10%)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109,619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2025 – Jul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4A0A29AD-9599-D2FF-7B32-F759910D4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70433"/>
            <a:ext cx="6232497" cy="52222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lassification Resul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274320" y="201168"/>
            <a:ext cx="73152" cy="594360"/>
          </a:xfrm>
          <a:prstGeom prst="rect">
            <a:avLst/>
          </a:prstGeom>
          <a:solidFill>
            <a:schemeClr val="accent2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20000" y="220000"/>
            <a:ext cx="11100000" cy="4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2400" b="1" dirty="0">
                <a:solidFill>
                  <a:srgbClr val="1E3A5F"/>
                </a:solidFill>
              </a:rPr>
              <a:t>Classification Model — Parameters &amp; Results</a:t>
            </a:r>
          </a:p>
        </p:txBody>
      </p:sp>
      <p:sp>
        <p:nvSpPr>
          <p:cNvPr id="4" name="Subtitle"/>
          <p:cNvSpPr/>
          <p:nvPr/>
        </p:nvSpPr>
        <p:spPr>
          <a:xfrm>
            <a:off x="420000" y="660000"/>
            <a:ext cx="1110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000" dirty="0">
                <a:solidFill>
                  <a:srgbClr val="5C7FA3"/>
                </a:solidFill>
              </a:rPr>
              <a:t>4 models trained on 70/20/10 temporal split  |  Best: XGBoost (AUC 0.8745, Accuracy 85.56%)</a:t>
            </a:r>
          </a:p>
        </p:txBody>
      </p:sp>
      <p:sp>
        <p:nvSpPr>
          <p:cNvPr id="5" name="Footer"/>
          <p:cNvSpPr/>
          <p:nvPr/>
        </p:nvSpPr>
        <p:spPr>
          <a:xfrm>
            <a:off x="274320" y="6370000"/>
            <a:ext cx="1152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800" dirty="0">
                <a:solidFill>
                  <a:srgbClr val="9E9E9E"/>
                </a:solidFill>
              </a:rPr>
              <a:t>Flight Delay Prediction -- DFW  |  ADTA 5940 Capstone  |  GROUP-8  |  University of North Texas</a:t>
            </a:r>
          </a:p>
        </p:txBody>
      </p:sp>
      <p:graphicFrame>
        <p:nvGraphicFramePr>
          <p:cNvPr id="20" name="Params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830"/>
              </p:ext>
            </p:extLst>
          </p:nvPr>
        </p:nvGraphicFramePr>
        <p:xfrm>
          <a:off x="420000" y="967949"/>
          <a:ext cx="5406642" cy="2379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2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1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6378">
                <a:tc>
                  <a:txBody>
                    <a:bodyPr/>
                    <a:lstStyle/>
                    <a:p>
                      <a:pPr algn="ctr"/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Key Parameters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378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Logistic Regression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penalty=l1, C=0.1, solver=saga, max_iter=2000, class_weight=balanced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378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Random Forest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n_estimators=200, max_depth=15, min_samples_leaf=5, class_weight=balanced_subsample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378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XGBoost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n_estimators=300, max_depth=6, lr=0.05, subsample=0.8, colsample=0.8, min_child_weight=5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488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LightGBM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n_estimators=300, max_depth=6, learning_rate=0.05,</a:t>
                      </a:r>
                    </a:p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       subsample=0.8, colsample_bytree=0.8, class_weight='balanced’, randomstate=42, n_jobs=-1, verbose=-1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ResultsTbl">
            <a:extLst>
              <a:ext uri="{FF2B5EF4-FFF2-40B4-BE49-F238E27FC236}">
                <a16:creationId xmlns:a16="http://schemas.microsoft.com/office/drawing/2014/main" id="{E435E235-4108-5F62-4CCC-2E4281AF2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930877"/>
              </p:ext>
            </p:extLst>
          </p:nvPr>
        </p:nvGraphicFramePr>
        <p:xfrm>
          <a:off x="6034320" y="981409"/>
          <a:ext cx="5971430" cy="2397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4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6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9972">
                  <a:extLst>
                    <a:ext uri="{9D8B030D-6E8A-4147-A177-3AD203B41FA5}">
                      <a16:colId xmlns:a16="http://schemas.microsoft.com/office/drawing/2014/main" val="4123727128"/>
                    </a:ext>
                  </a:extLst>
                </a:gridCol>
                <a:gridCol w="723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5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37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2520">
                  <a:extLst>
                    <a:ext uri="{9D8B030D-6E8A-4147-A177-3AD203B41FA5}">
                      <a16:colId xmlns:a16="http://schemas.microsoft.com/office/drawing/2014/main" val="1099301768"/>
                    </a:ext>
                  </a:extLst>
                </a:gridCol>
              </a:tblGrid>
              <a:tr h="475974">
                <a:tc>
                  <a:txBody>
                    <a:bodyPr/>
                    <a:lstStyle/>
                    <a:p>
                      <a:pPr algn="ctr"/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Train Acc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Train AUC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80" b="1" dirty="0">
                        <a:solidFill>
                          <a:srgbClr val="FFFFFF"/>
                        </a:solidFill>
                      </a:endParaRPr>
                    </a:p>
                    <a:p>
                      <a:pPr algn="ctr"/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Train Recall</a:t>
                      </a:r>
                    </a:p>
                    <a:p>
                      <a:pPr algn="ctr"/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(Delay)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Test Acc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Test AUC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Test F1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Test</a:t>
                      </a:r>
                    </a:p>
                    <a:p>
                      <a:pPr algn="ctr"/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  <a:p>
                      <a:pPr algn="ctr"/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(Delay)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CADCFC"/>
                      </a:solidFill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974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XGBoost🥇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84.87%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0.8758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0.6604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CFC"/>
                      </a:solidFill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85.56%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0.8745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0.7851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0.6958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974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LightGBM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84.77%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0.8715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0.6357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CFC"/>
                      </a:solidFill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85.54%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0.8736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0.7850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0.6959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974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Random Forest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84.87%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0.8719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0.6563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CFC"/>
                      </a:solidFill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85.68%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0.8693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0.7833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0.6826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974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Logistic Reg.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84.61%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0.8285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0.6291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CFC"/>
                      </a:solidFill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85.68%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0.8566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0.7835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0.6831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itle">
            <a:extLst>
              <a:ext uri="{FF2B5EF4-FFF2-40B4-BE49-F238E27FC236}">
                <a16:creationId xmlns:a16="http://schemas.microsoft.com/office/drawing/2014/main" id="{EFC5AE79-7A0A-13F6-B027-CA6853421E92}"/>
              </a:ext>
            </a:extLst>
          </p:cNvPr>
          <p:cNvSpPr/>
          <p:nvPr/>
        </p:nvSpPr>
        <p:spPr>
          <a:xfrm>
            <a:off x="484320" y="3702435"/>
            <a:ext cx="11100000" cy="4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2400" b="1" dirty="0">
                <a:solidFill>
                  <a:srgbClr val="1E3A5F"/>
                </a:solidFill>
              </a:rPr>
              <a:t>Regression Model — Parameters &amp; Results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785DAFC8-35FF-4748-144C-BF6CF629BF84}"/>
              </a:ext>
            </a:extLst>
          </p:cNvPr>
          <p:cNvSpPr/>
          <p:nvPr/>
        </p:nvSpPr>
        <p:spPr>
          <a:xfrm>
            <a:off x="484320" y="4137217"/>
            <a:ext cx="1110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000" dirty="0">
                <a:solidFill>
                  <a:srgbClr val="5C7FA3"/>
                </a:solidFill>
              </a:rPr>
              <a:t>2 models trained on 70/20/10 temporal split  |  Best: XGBoost (Test R</a:t>
            </a:r>
            <a:r>
              <a:rPr lang="en-US" sz="1000" baseline="30000" dirty="0">
                <a:solidFill>
                  <a:srgbClr val="5C7FA3"/>
                </a:solidFill>
              </a:rPr>
              <a:t>2</a:t>
            </a:r>
            <a:r>
              <a:rPr lang="en-US" sz="1000" dirty="0">
                <a:solidFill>
                  <a:srgbClr val="5C7FA3"/>
                </a:solidFill>
              </a:rPr>
              <a:t> 0.7314)</a:t>
            </a:r>
          </a:p>
        </p:txBody>
      </p:sp>
      <p:sp>
        <p:nvSpPr>
          <p:cNvPr id="9" name="AccentBar">
            <a:extLst>
              <a:ext uri="{FF2B5EF4-FFF2-40B4-BE49-F238E27FC236}">
                <a16:creationId xmlns:a16="http://schemas.microsoft.com/office/drawing/2014/main" id="{78F6406B-B3E2-EAEE-F4AF-CB7886D151F1}"/>
              </a:ext>
            </a:extLst>
          </p:cNvPr>
          <p:cNvSpPr/>
          <p:nvPr/>
        </p:nvSpPr>
        <p:spPr>
          <a:xfrm>
            <a:off x="307494" y="3702435"/>
            <a:ext cx="73152" cy="594360"/>
          </a:xfrm>
          <a:prstGeom prst="rect">
            <a:avLst/>
          </a:prstGeom>
          <a:solidFill>
            <a:schemeClr val="accent2"/>
          </a:solidFill>
        </p:spPr>
        <p:txBody>
          <a:bodyPr/>
          <a:lstStyle/>
          <a:p>
            <a:endParaRPr lang="en-US"/>
          </a:p>
        </p:txBody>
      </p:sp>
      <p:graphicFrame>
        <p:nvGraphicFramePr>
          <p:cNvPr id="13" name="RegParams">
            <a:extLst>
              <a:ext uri="{FF2B5EF4-FFF2-40B4-BE49-F238E27FC236}">
                <a16:creationId xmlns:a16="http://schemas.microsoft.com/office/drawing/2014/main" id="{491249A8-FC9B-24B9-EE9D-71772DAFD0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140695"/>
              </p:ext>
            </p:extLst>
          </p:nvPr>
        </p:nvGraphicFramePr>
        <p:xfrm>
          <a:off x="420000" y="4513931"/>
          <a:ext cx="5300000" cy="1586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5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7744">
                <a:tc>
                  <a:txBody>
                    <a:bodyPr/>
                    <a:lstStyle/>
                    <a:p>
                      <a:pPr algn="ctr"/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Key Parameters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078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XGBoost Regressor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n_estimators=500, max_depth=6, learning_rate=0.05, subsample=0.8, colsample_bytree=0.8, random_state=42, n_jobs=-1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078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LightGBM Regressor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n_estimators=300,  learning_rate=0.05,   num_leaves=31,   max_depth=-1,  subsample=0.8,  colsample_bytree=0.8, random_state=42,  n_jobs=-1, verbose=-1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RegResults">
            <a:extLst>
              <a:ext uri="{FF2B5EF4-FFF2-40B4-BE49-F238E27FC236}">
                <a16:creationId xmlns:a16="http://schemas.microsoft.com/office/drawing/2014/main" id="{63303DF6-28AB-5392-6791-3B4C1ECAD1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49785"/>
              </p:ext>
            </p:extLst>
          </p:nvPr>
        </p:nvGraphicFramePr>
        <p:xfrm>
          <a:off x="6096000" y="4677755"/>
          <a:ext cx="5814646" cy="1166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8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14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73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25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53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8975">
                <a:tc>
                  <a:txBody>
                    <a:bodyPr/>
                    <a:lstStyle/>
                    <a:p>
                      <a:pPr algn="ctr"/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Train MAE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Train RMSE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Train R²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Test MAE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Test RMSE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Test R²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975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XGBoost Reg 🥇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7.9094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22.2945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0.7269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9.7195 min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25.5799 min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0.7314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975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LightGBM Reg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8.0484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22.6556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0.7169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9.7050 min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25.6106 min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0.7295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73152" cy="59436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Results — Delay Detection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79"/>
            <a:ext cx="11430000" cy="45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flights will arrive late?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1612880" cy="0"/>
          </a:xfrm>
          <a:prstGeom prst="line">
            <a:avLst/>
          </a:prstGeom>
          <a:noFill/>
          <a:ln w="9525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Delay Prediction — DFW  |  ADTA 5940 Capstone  |  GROUP-8  |  University of North Texas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70432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10515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Comparison (Validation Set)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17920" y="1051560"/>
            <a:ext cx="297357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XGBoost Validation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217920" y="4274820"/>
            <a:ext cx="3362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3274922"/>
              </p:ext>
            </p:extLst>
          </p:nvPr>
        </p:nvGraphicFramePr>
        <p:xfrm>
          <a:off x="6217920" y="4645151"/>
          <a:ext cx="4040372" cy="1709930"/>
        </p:xfrm>
        <a:graphic>
          <a:graphicData uri="http://schemas.openxmlformats.org/drawingml/2006/table">
            <a:tbl>
              <a:tblPr/>
              <a:tblGrid>
                <a:gridCol w="29325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7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19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9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Negatives (On Time, correct)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57,835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9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Positives (Delayed, correct)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33,865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9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False Positives (False Alarm)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9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False Negatives (Missed Delay)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14,399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" name="ResultsTbl">
            <a:extLst>
              <a:ext uri="{FF2B5EF4-FFF2-40B4-BE49-F238E27FC236}">
                <a16:creationId xmlns:a16="http://schemas.microsoft.com/office/drawing/2014/main" id="{1033F707-EBEC-1227-EB29-FF63812B9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042505"/>
              </p:ext>
            </p:extLst>
          </p:nvPr>
        </p:nvGraphicFramePr>
        <p:xfrm>
          <a:off x="8845587" y="2019000"/>
          <a:ext cx="2973573" cy="14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9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6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98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Test Acc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Test AUC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Test F1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Test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85.56%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CFC"/>
                      </a:solidFill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0.8745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0.7851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Validation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83.65%</a:t>
                      </a: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ADCFC"/>
                      </a:solidFill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0.8712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0.7900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29D8952E-66BB-56A0-C6AD-D4CF5E04E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460660"/>
            <a:ext cx="2832158" cy="2725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FAD287-D515-ECA8-E0E7-A6BE62400E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840" y="1618496"/>
            <a:ext cx="5387880" cy="43628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73152" cy="594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Results — Delay Magnitude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minutes will the flight be late?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1612880" cy="0"/>
          </a:xfrm>
          <a:prstGeom prst="line">
            <a:avLst/>
          </a:prstGeom>
          <a:noFill/>
          <a:ln w="9525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Delay Prediction — DFW  |  ADTA 5940 Capstone  |  GROUP-8  |  University of North Texas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70432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10515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Predicted Delay — XGBoost (Test)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60720" y="10515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Distribution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65760" y="4548996"/>
            <a:ext cx="45358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 Leaderboard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683595"/>
              </p:ext>
            </p:extLst>
          </p:nvPr>
        </p:nvGraphicFramePr>
        <p:xfrm>
          <a:off x="347472" y="4930514"/>
          <a:ext cx="4627289" cy="1342472"/>
        </p:xfrm>
        <a:graphic>
          <a:graphicData uri="http://schemas.openxmlformats.org/drawingml/2006/table">
            <a:tbl>
              <a:tblPr/>
              <a:tblGrid>
                <a:gridCol w="1865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6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(min)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(min)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6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🥇 XGBoost Reg (Test)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9.7195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25.5799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6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Reg (Test)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9.7050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25.6106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6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Reg (Val)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26480" y="464827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Regression Metrics (Validation)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897880" y="5063722"/>
            <a:ext cx="1524000" cy="129044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5943600" y="5291770"/>
            <a:ext cx="1333499" cy="83434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 min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6126480" y="5883250"/>
            <a:ext cx="132588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543800" y="5045023"/>
            <a:ext cx="1325880" cy="1290444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7589520" y="5439136"/>
            <a:ext cx="1325880" cy="6554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27.2 min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7589520" y="5883250"/>
            <a:ext cx="132588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9052560" y="5074920"/>
            <a:ext cx="1325880" cy="127924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9052560" y="5395056"/>
            <a:ext cx="1325880" cy="6765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0.7232</a:t>
            </a:r>
            <a:endParaRPr lang="en-US" sz="2600" dirty="0"/>
          </a:p>
        </p:txBody>
      </p:sp>
      <p:sp>
        <p:nvSpPr>
          <p:cNvPr id="23" name="Text 18"/>
          <p:cNvSpPr/>
          <p:nvPr/>
        </p:nvSpPr>
        <p:spPr>
          <a:xfrm>
            <a:off x="9052560" y="5883250"/>
            <a:ext cx="132588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10515600" y="5074920"/>
            <a:ext cx="1371600" cy="129044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10515600" y="5395056"/>
            <a:ext cx="13716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+5.56 min</a:t>
            </a:r>
            <a:endParaRPr lang="en-US" sz="2600" dirty="0"/>
          </a:p>
        </p:txBody>
      </p:sp>
      <p:sp>
        <p:nvSpPr>
          <p:cNvPr id="26" name="Text 21"/>
          <p:cNvSpPr/>
          <p:nvPr/>
        </p:nvSpPr>
        <p:spPr>
          <a:xfrm>
            <a:off x="10515600" y="5883250"/>
            <a:ext cx="132588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A7A3673-3E57-DB84-A94E-DBD4E1049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" y="1512207"/>
            <a:ext cx="4627289" cy="301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4D423D-F66B-5E25-FD09-551103431F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9825" y="1346930"/>
            <a:ext cx="4748184" cy="29906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ypertun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274320" y="201168"/>
            <a:ext cx="73152" cy="594360"/>
          </a:xfrm>
          <a:prstGeom prst="rect">
            <a:avLst/>
          </a:prstGeom>
          <a:solidFill>
            <a:srgbClr val="1E88E5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20000" y="220000"/>
            <a:ext cx="11100000" cy="4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2400" b="1" dirty="0">
                <a:solidFill>
                  <a:srgbClr val="1E3A5F"/>
                </a:solidFill>
              </a:rPr>
              <a:t>Hyperparameter Tuning</a:t>
            </a:r>
          </a:p>
        </p:txBody>
      </p:sp>
      <p:sp>
        <p:nvSpPr>
          <p:cNvPr id="4" name="Subtitle"/>
          <p:cNvSpPr/>
          <p:nvPr/>
        </p:nvSpPr>
        <p:spPr>
          <a:xfrm>
            <a:off x="420000" y="660000"/>
            <a:ext cx="1110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000" dirty="0">
                <a:solidFill>
                  <a:srgbClr val="5C7FA3"/>
                </a:solidFill>
              </a:rPr>
              <a:t>RandomizedSearchCV on XGBoost (Classifier + Regressor)  |  15–25 iterations, 3-fold CV</a:t>
            </a:r>
          </a:p>
        </p:txBody>
      </p:sp>
      <p:sp>
        <p:nvSpPr>
          <p:cNvPr id="5" name="Footer"/>
          <p:cNvSpPr/>
          <p:nvPr/>
        </p:nvSpPr>
        <p:spPr>
          <a:xfrm>
            <a:off x="274320" y="6370000"/>
            <a:ext cx="1152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800" dirty="0">
                <a:solidFill>
                  <a:srgbClr val="9E9E9E"/>
                </a:solidFill>
              </a:rPr>
              <a:t>Flight Delay Prediction -- DFW  |  ADTA 5940 Capstone  |  GROUP-8  |  University of North Texas</a:t>
            </a:r>
          </a:p>
        </p:txBody>
      </p:sp>
      <p:sp>
        <p:nvSpPr>
          <p:cNvPr id="10" name="H1"/>
          <p:cNvSpPr/>
          <p:nvPr/>
        </p:nvSpPr>
        <p:spPr>
          <a:xfrm>
            <a:off x="420000" y="900000"/>
            <a:ext cx="11100000" cy="24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200" b="1" dirty="0">
                <a:solidFill>
                  <a:srgbClr val="1E88E5"/>
                </a:solidFill>
              </a:rPr>
              <a:t> Hyperparameter Tuning — RandomizedSearchCV (3-fold CV)</a:t>
            </a:r>
          </a:p>
        </p:txBody>
      </p:sp>
      <p:sp>
        <p:nvSpPr>
          <p:cNvPr id="11" name="H2"/>
          <p:cNvSpPr/>
          <p:nvPr/>
        </p:nvSpPr>
        <p:spPr>
          <a:xfrm>
            <a:off x="420000" y="3042053"/>
            <a:ext cx="11100000" cy="24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200" b="1" dirty="0">
                <a:solidFill>
                  <a:srgbClr val="1E88E5"/>
                </a:solidFill>
              </a:rPr>
              <a:t>&gt;&gt; Before vs After Tuning &amp; Best Model Selection</a:t>
            </a:r>
          </a:p>
        </p:txBody>
      </p:sp>
      <p:graphicFrame>
        <p:nvGraphicFramePr>
          <p:cNvPr id="20" name="Hyp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737384"/>
              </p:ext>
            </p:extLst>
          </p:nvPr>
        </p:nvGraphicFramePr>
        <p:xfrm>
          <a:off x="420000" y="1140000"/>
          <a:ext cx="11100000" cy="16620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0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3333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Search Space (Key Params)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n_iter / CV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Scoring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Best Params Found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333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XGB Classifier</a:t>
                      </a:r>
                    </a:p>
                  </a:txBody>
                  <a:tcPr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n_estimators [300,500], max_depth [4,6,8], lr [0.01,0.05,0.1], min_child_weight [1,5,10], gamma [0,0.1,0.2], subsample [0.7-0.9], colsample [0.7-0.9]</a:t>
                      </a:r>
                    </a:p>
                  </a:txBody>
                  <a:tcPr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15 / 3-fold</a:t>
                      </a:r>
                    </a:p>
                  </a:txBody>
                  <a:tcPr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AUC-ROC</a:t>
                      </a:r>
                    </a:p>
                  </a:txBody>
                  <a:tcPr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subsample=0.7, n_est=500, min_child=5, max_depth=4, lr=0.01, gamma=0, colsample=0.8</a:t>
                      </a:r>
                    </a:p>
                  </a:txBody>
                  <a:tcPr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333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XGB Regressor</a:t>
                      </a:r>
                    </a:p>
                  </a:txBody>
                  <a:tcPr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n_estimators [600-800], max_depth [5,6,7], lr [0.03-0.07], subsample [0.8-1.0], colsample [0.8-1.0], min_child [1,3,5], reg_alpha [0-0.1], reg_lambda [1-2]</a:t>
                      </a:r>
                    </a:p>
                  </a:txBody>
                  <a:tcPr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25 / 3-fold</a:t>
                      </a:r>
                    </a:p>
                  </a:txBody>
                  <a:tcPr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neg_MAE</a:t>
                      </a:r>
                    </a:p>
                  </a:txBody>
                  <a:tcPr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subsample=0.9, reg_lambda=2, reg_alpha=0.1, n_est=700, min_child=1, max_depth=5, lr=0.03, colsample=1.0</a:t>
                      </a:r>
                    </a:p>
                  </a:txBody>
                  <a:tcPr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0" name="BA_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080187"/>
              </p:ext>
            </p:extLst>
          </p:nvPr>
        </p:nvGraphicFramePr>
        <p:xfrm>
          <a:off x="420000" y="3291169"/>
          <a:ext cx="5980799" cy="1129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64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08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5866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 (Del.)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  (Del.) 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AUC - ROC</a:t>
                      </a:r>
                    </a:p>
                  </a:txBody>
                  <a:tcPr anchor="ctr">
                    <a:lnL w="9525">
                      <a:solidFill>
                        <a:srgbClr val="CADCFC"/>
                      </a:solidFill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56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XGBoost (Tuned) </a:t>
                      </a:r>
                    </a:p>
                  </a:txBody>
                  <a:tcPr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0.86</a:t>
                      </a:r>
                    </a:p>
                  </a:txBody>
                  <a:tcPr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0.69</a:t>
                      </a:r>
                    </a:p>
                  </a:txBody>
                  <a:tcPr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0.7844</a:t>
                      </a:r>
                    </a:p>
                  </a:txBody>
                  <a:tcPr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0.8705</a:t>
                      </a:r>
                    </a:p>
                  </a:txBody>
                  <a:tcPr>
                    <a:lnL w="9525">
                      <a:solidFill>
                        <a:srgbClr val="CADCFC"/>
                      </a:solidFill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708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XGBoost (Default)</a:t>
                      </a:r>
                    </a:p>
                  </a:txBody>
                  <a:tcPr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0.8556</a:t>
                      </a:r>
                    </a:p>
                  </a:txBody>
                  <a:tcPr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0.6958</a:t>
                      </a:r>
                    </a:p>
                  </a:txBody>
                  <a:tcPr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0.7851</a:t>
                      </a:r>
                    </a:p>
                  </a:txBody>
                  <a:tcPr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0.8745</a:t>
                      </a:r>
                    </a:p>
                  </a:txBody>
                  <a:tcPr>
                    <a:lnL w="9525">
                      <a:solidFill>
                        <a:srgbClr val="CADCFC"/>
                      </a:solidFill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BA_Tbl">
            <a:extLst>
              <a:ext uri="{FF2B5EF4-FFF2-40B4-BE49-F238E27FC236}">
                <a16:creationId xmlns:a16="http://schemas.microsoft.com/office/drawing/2014/main" id="{7F5CE403-A2D3-28D1-B415-9E0FC0DD45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997470"/>
              </p:ext>
            </p:extLst>
          </p:nvPr>
        </p:nvGraphicFramePr>
        <p:xfrm>
          <a:off x="399999" y="4782500"/>
          <a:ext cx="6000800" cy="1129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0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6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661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MAE (min)</a:t>
                      </a:r>
                    </a:p>
                  </a:txBody>
                  <a:tcPr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RMSE (min) </a:t>
                      </a:r>
                    </a:p>
                  </a:txBody>
                  <a:tcPr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R²</a:t>
                      </a:r>
                    </a:p>
                  </a:txBody>
                  <a:tcPr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61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XGBoost (Tuned) </a:t>
                      </a:r>
                    </a:p>
                  </a:txBody>
                  <a:tcPr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9.73</a:t>
                      </a:r>
                    </a:p>
                  </a:txBody>
                  <a:tcPr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25.60</a:t>
                      </a:r>
                    </a:p>
                  </a:txBody>
                  <a:tcPr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0.7304</a:t>
                      </a:r>
                    </a:p>
                  </a:txBody>
                  <a:tcPr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61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XGBoost (Default)</a:t>
                      </a:r>
                    </a:p>
                  </a:txBody>
                  <a:tcPr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9.719</a:t>
                      </a:r>
                    </a:p>
                  </a:txBody>
                  <a:tcPr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25.580</a:t>
                      </a:r>
                    </a:p>
                  </a:txBody>
                  <a:tcPr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0.731</a:t>
                      </a:r>
                    </a:p>
                  </a:txBody>
                  <a:tcPr>
                    <a:lnL w="9525">
                      <a:solidFill>
                        <a:srgbClr val="CADCFC"/>
                      </a:solidFill>
                    </a:lnL>
                    <a:lnR w="9525">
                      <a:solidFill>
                        <a:srgbClr val="CADCFC"/>
                      </a:solidFill>
                    </a:lnR>
                    <a:lnT w="9525">
                      <a:solidFill>
                        <a:srgbClr val="CADCFC"/>
                      </a:solidFill>
                    </a:lnT>
                    <a:lnB w="9525">
                      <a:solidFill>
                        <a:srgbClr val="CADCF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hape 10">
            <a:extLst>
              <a:ext uri="{FF2B5EF4-FFF2-40B4-BE49-F238E27FC236}">
                <a16:creationId xmlns:a16="http://schemas.microsoft.com/office/drawing/2014/main" id="{76FB2102-B5FE-C128-EBD3-E5E3312BC0DB}"/>
              </a:ext>
            </a:extLst>
          </p:cNvPr>
          <p:cNvSpPr/>
          <p:nvPr/>
        </p:nvSpPr>
        <p:spPr>
          <a:xfrm>
            <a:off x="306" y="0"/>
            <a:ext cx="12191694" cy="8229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686FB05A-9063-4669-2D1F-FF7663C2A5AE}"/>
              </a:ext>
            </a:extLst>
          </p:cNvPr>
          <p:cNvSpPr/>
          <p:nvPr/>
        </p:nvSpPr>
        <p:spPr>
          <a:xfrm>
            <a:off x="310896" y="114085"/>
            <a:ext cx="11100000" cy="45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2400" b="1" dirty="0">
                <a:solidFill>
                  <a:schemeClr val="bg1"/>
                </a:solidFill>
              </a:rPr>
              <a:t>Hyperparameter Tuning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9B1DF873-D786-17B3-C457-38E22B69FD45}"/>
              </a:ext>
            </a:extLst>
          </p:cNvPr>
          <p:cNvSpPr/>
          <p:nvPr/>
        </p:nvSpPr>
        <p:spPr>
          <a:xfrm>
            <a:off x="310896" y="527749"/>
            <a:ext cx="11100000" cy="2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1000" dirty="0">
                <a:solidFill>
                  <a:schemeClr val="bg1"/>
                </a:solidFill>
              </a:rPr>
              <a:t>RandomizedSearchCV on XGBoost (Classifier + Regressor)  |  15–25 iterations, 3-fold CV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0B99CA-E8DD-E708-184F-364A221F5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9800" y="2965998"/>
            <a:ext cx="4330700" cy="323200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73152" cy="5943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Feature Importance &amp; Delay Drivers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the model's predictions?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1612880" cy="0"/>
          </a:xfrm>
          <a:prstGeom prst="line">
            <a:avLst/>
          </a:prstGeom>
          <a:noFill/>
          <a:ln w="9525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Delay Prediction — DFW  |  ADTA 5940 Capstone  |  GROUP-8  |  University of North Texas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704320" y="65653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1051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— Tuned XGBoost Classifier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0" y="1051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Drivers — XGBoost Regressor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335265"/>
              </p:ext>
            </p:extLst>
          </p:nvPr>
        </p:nvGraphicFramePr>
        <p:xfrm>
          <a:off x="6585669" y="4033110"/>
          <a:ext cx="5059680" cy="2490050"/>
        </p:xfrm>
        <a:graphic>
          <a:graphicData uri="http://schemas.openxmlformats.org/drawingml/2006/table">
            <a:tbl>
              <a:tblPr/>
              <a:tblGrid>
                <a:gridCol w="177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61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4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3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MINS_TO_SCHD_DEP_QTY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High → ↓ delay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Longer pre-dep window = less rush = less delay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3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etd_volatility_min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High → ↑ delay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Volatile ETD = operational instability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3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flight_nbr_hist_delay_rate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High → ↑ delay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Historically problematic routes/numbers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3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peak_x_etd_delay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High → ↑ delay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Peak-hour + ETD push = worst affected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3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dfw_pressure_msl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Low → ↑ delay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pressure = storm systems at DFW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469763C7-A85C-1A82-AF90-DE9FB6207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651" y="1371600"/>
            <a:ext cx="4337567" cy="53335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2F3E5A-F0E8-B2B6-C90E-2C8C1D4E2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7520" y="1371600"/>
            <a:ext cx="4253948" cy="253228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8EF5E0E-4B65-FAB9-2EC7-61C1D3BAF3D6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8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1714BA-A0E2-CC7F-D02A-C2686C035675}"/>
              </a:ext>
            </a:extLst>
          </p:cNvPr>
          <p:cNvSpPr txBox="1"/>
          <p:nvPr/>
        </p:nvSpPr>
        <p:spPr>
          <a:xfrm>
            <a:off x="326420" y="146517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</a:rPr>
              <a:t>Discussion, Limitations &amp; Future 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BCC0DC-6960-07F5-BB48-D13311B58A7F}"/>
              </a:ext>
            </a:extLst>
          </p:cNvPr>
          <p:cNvSpPr txBox="1"/>
          <p:nvPr/>
        </p:nvSpPr>
        <p:spPr>
          <a:xfrm>
            <a:off x="123444" y="6537960"/>
            <a:ext cx="1136599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80A0B0"/>
                </a:solidFill>
              </a:rPr>
              <a:t>Flight Delay Prediction — DFW  |  ADTA 5940 Capstone  |  GROUP-8  |  University of North Texas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F3A9A1-88EF-80E1-9193-AF51E52CECA0}"/>
              </a:ext>
            </a:extLst>
          </p:cNvPr>
          <p:cNvSpPr txBox="1"/>
          <p:nvPr/>
        </p:nvSpPr>
        <p:spPr>
          <a:xfrm>
            <a:off x="365760" y="90717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D1B3E"/>
                </a:solidFill>
              </a:rPr>
              <a:t>Research Question Answers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1A0EB3-5621-58F0-756E-A80D36A7CD1F}"/>
              </a:ext>
            </a:extLst>
          </p:cNvPr>
          <p:cNvSpPr/>
          <p:nvPr/>
        </p:nvSpPr>
        <p:spPr>
          <a:xfrm>
            <a:off x="411480" y="1325880"/>
            <a:ext cx="539496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7A6E56-7C19-B453-BF94-ED62E39FE6E5}"/>
              </a:ext>
            </a:extLst>
          </p:cNvPr>
          <p:cNvSpPr/>
          <p:nvPr/>
        </p:nvSpPr>
        <p:spPr>
          <a:xfrm>
            <a:off x="411480" y="1325880"/>
            <a:ext cx="5394960" cy="274320"/>
          </a:xfrm>
          <a:prstGeom prst="rect">
            <a:avLst/>
          </a:prstGeom>
          <a:solidFill>
            <a:srgbClr val="008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4CFA8E-0651-EBE9-436D-17CE3B1CE131}"/>
              </a:ext>
            </a:extLst>
          </p:cNvPr>
          <p:cNvSpPr txBox="1"/>
          <p:nvPr/>
        </p:nvSpPr>
        <p:spPr>
          <a:xfrm>
            <a:off x="502920" y="1362456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RQ1 — Binary Classification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D231F5-6B7F-1803-F185-E42C07CB11C4}"/>
              </a:ext>
            </a:extLst>
          </p:cNvPr>
          <p:cNvSpPr txBox="1"/>
          <p:nvPr/>
        </p:nvSpPr>
        <p:spPr>
          <a:xfrm>
            <a:off x="548640" y="1838498"/>
            <a:ext cx="52120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Yes. XGBoost achieves AUC ≈ 0.87, Accuracy ≈ 85%, and F1 ≈ 0.78 on validation data, correctly identifying ~70% of delayed flights with a low false alarm rate (~6%).</a:t>
            </a:r>
            <a:endParaRPr sz="1050" b="0" i="0" dirty="0">
              <a:solidFill>
                <a:srgbClr val="36454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110BB9-6EB1-1203-245E-26424013BCE6}"/>
              </a:ext>
            </a:extLst>
          </p:cNvPr>
          <p:cNvSpPr/>
          <p:nvPr/>
        </p:nvSpPr>
        <p:spPr>
          <a:xfrm>
            <a:off x="411480" y="2587752"/>
            <a:ext cx="539496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8E0AB4-8605-578F-6074-FC68079BA54E}"/>
              </a:ext>
            </a:extLst>
          </p:cNvPr>
          <p:cNvSpPr/>
          <p:nvPr/>
        </p:nvSpPr>
        <p:spPr>
          <a:xfrm>
            <a:off x="411480" y="2587752"/>
            <a:ext cx="5394960" cy="274320"/>
          </a:xfrm>
          <a:prstGeom prst="rect">
            <a:avLst/>
          </a:prstGeom>
          <a:solidFill>
            <a:srgbClr val="008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FA2D1D-488B-BC0D-3AC7-280680EDB756}"/>
              </a:ext>
            </a:extLst>
          </p:cNvPr>
          <p:cNvSpPr txBox="1"/>
          <p:nvPr/>
        </p:nvSpPr>
        <p:spPr>
          <a:xfrm>
            <a:off x="502920" y="2624328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RQ2 — Delay Magnitude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3C9F6E-1A63-0E92-9F80-F1A4750462DF}"/>
              </a:ext>
            </a:extLst>
          </p:cNvPr>
          <p:cNvSpPr txBox="1"/>
          <p:nvPr/>
        </p:nvSpPr>
        <p:spPr>
          <a:xfrm>
            <a:off x="548640" y="3128946"/>
            <a:ext cx="52120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Yes. XGBoost Regressor achieves MAE ≈ 11.6 min and R² ≈ 0.72 on validation, providing useful delay estimates with slight overprediction (+4.4 min bias).</a:t>
            </a:r>
            <a:endParaRPr sz="1050" b="0" i="0" dirty="0">
              <a:solidFill>
                <a:srgbClr val="36454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DBF08C-687F-E102-3FE2-7E9936BA7697}"/>
              </a:ext>
            </a:extLst>
          </p:cNvPr>
          <p:cNvSpPr/>
          <p:nvPr/>
        </p:nvSpPr>
        <p:spPr>
          <a:xfrm>
            <a:off x="411480" y="3849624"/>
            <a:ext cx="539496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66B64F-8D05-616C-62BD-EA07235DE74C}"/>
              </a:ext>
            </a:extLst>
          </p:cNvPr>
          <p:cNvSpPr/>
          <p:nvPr/>
        </p:nvSpPr>
        <p:spPr>
          <a:xfrm>
            <a:off x="411480" y="3849624"/>
            <a:ext cx="5394960" cy="274320"/>
          </a:xfrm>
          <a:prstGeom prst="rect">
            <a:avLst/>
          </a:prstGeom>
          <a:solidFill>
            <a:srgbClr val="008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E87E7D-F58C-1427-CF8A-5D5301B18621}"/>
              </a:ext>
            </a:extLst>
          </p:cNvPr>
          <p:cNvSpPr txBox="1"/>
          <p:nvPr/>
        </p:nvSpPr>
        <p:spPr>
          <a:xfrm>
            <a:off x="502920" y="3886200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RQ3 — Weather Variables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190ABA-4E56-88B2-03C9-B231C677DBBD}"/>
              </a:ext>
            </a:extLst>
          </p:cNvPr>
          <p:cNvSpPr txBox="1"/>
          <p:nvPr/>
        </p:nvSpPr>
        <p:spPr>
          <a:xfrm>
            <a:off x="548640" y="4387134"/>
            <a:ext cx="50596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/>
              <a:t>Pressure_msl, surface_pressure, is_precip, and wx_severity are top weather signals. ETD operational features still dominate SHAP rankings over weather.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10C384-8533-D955-BFA5-A8AE80DC81B3}"/>
              </a:ext>
            </a:extLst>
          </p:cNvPr>
          <p:cNvSpPr/>
          <p:nvPr/>
        </p:nvSpPr>
        <p:spPr>
          <a:xfrm>
            <a:off x="411480" y="5111496"/>
            <a:ext cx="539496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193CCB8-4C25-DAC8-27A1-38F9B3F6C5D1}"/>
              </a:ext>
            </a:extLst>
          </p:cNvPr>
          <p:cNvSpPr/>
          <p:nvPr/>
        </p:nvSpPr>
        <p:spPr>
          <a:xfrm>
            <a:off x="411480" y="5111496"/>
            <a:ext cx="5394960" cy="274320"/>
          </a:xfrm>
          <a:prstGeom prst="rect">
            <a:avLst/>
          </a:prstGeom>
          <a:solidFill>
            <a:srgbClr val="008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F53272-FD22-B362-4048-B5342AD51A97}"/>
              </a:ext>
            </a:extLst>
          </p:cNvPr>
          <p:cNvSpPr txBox="1"/>
          <p:nvPr/>
        </p:nvSpPr>
        <p:spPr>
          <a:xfrm>
            <a:off x="502920" y="5148072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RQ4 — Generalizability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85AC3F-1AC9-E367-3B0B-E2031C82780E}"/>
              </a:ext>
            </a:extLst>
          </p:cNvPr>
          <p:cNvSpPr txBox="1"/>
          <p:nvPr/>
        </p:nvSpPr>
        <p:spPr>
          <a:xfrm>
            <a:off x="502920" y="5619542"/>
            <a:ext cx="52120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Strong generalization with minimal overfitting (Train–Test AUC gap ≈ 0.0012), supported by temporal splitting and leakage-free feature engineering.</a:t>
            </a:r>
            <a:endParaRPr sz="1050" b="0" i="0" dirty="0">
              <a:solidFill>
                <a:srgbClr val="36454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D83878-9D8A-DC29-DFB7-78C14B0F05FD}"/>
              </a:ext>
            </a:extLst>
          </p:cNvPr>
          <p:cNvSpPr txBox="1"/>
          <p:nvPr/>
        </p:nvSpPr>
        <p:spPr>
          <a:xfrm>
            <a:off x="6126480" y="1038387"/>
            <a:ext cx="2788920" cy="292388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pPr algn="l"/>
            <a:r>
              <a:rPr sz="1300" b="1" i="0" dirty="0"/>
              <a:t>Limitations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CB71B0E-F1AE-9CDB-01D5-D9132C8B0836}"/>
              </a:ext>
            </a:extLst>
          </p:cNvPr>
          <p:cNvSpPr/>
          <p:nvPr/>
        </p:nvSpPr>
        <p:spPr>
          <a:xfrm>
            <a:off x="5989320" y="1325880"/>
            <a:ext cx="30175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C285BD-5E09-593E-82C6-A7D5FDFBC0B6}"/>
              </a:ext>
            </a:extLst>
          </p:cNvPr>
          <p:cNvSpPr txBox="1"/>
          <p:nvPr/>
        </p:nvSpPr>
        <p:spPr>
          <a:xfrm>
            <a:off x="6080760" y="13716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</a:rPr>
              <a:t>  Single Airport Scope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7671AE-C0CC-C583-3481-E431AC30C932}"/>
              </a:ext>
            </a:extLst>
          </p:cNvPr>
          <p:cNvSpPr txBox="1"/>
          <p:nvPr/>
        </p:nvSpPr>
        <p:spPr>
          <a:xfrm>
            <a:off x="6126480" y="1552758"/>
            <a:ext cx="28346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The model is limited to DFW airport only and does not account for delay propagation from connected hubs such as ORD or ATL.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C0AF1F4-72C0-48E1-0BD2-EBDAE23B7849}"/>
              </a:ext>
            </a:extLst>
          </p:cNvPr>
          <p:cNvSpPr/>
          <p:nvPr/>
        </p:nvSpPr>
        <p:spPr>
          <a:xfrm>
            <a:off x="5989320" y="2121408"/>
            <a:ext cx="30175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1E4E85C-758C-D1B4-613A-16FC65D2AE89}"/>
              </a:ext>
            </a:extLst>
          </p:cNvPr>
          <p:cNvSpPr txBox="1"/>
          <p:nvPr/>
        </p:nvSpPr>
        <p:spPr>
          <a:xfrm>
            <a:off x="6080760" y="2244767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1" dirty="0">
                <a:solidFill>
                  <a:srgbClr val="FF0000"/>
                </a:solidFill>
              </a:rPr>
              <a:t>Weather </a:t>
            </a:r>
            <a:r>
              <a:rPr sz="1050" b="1" i="0" dirty="0">
                <a:solidFill>
                  <a:srgbClr val="FF0000"/>
                </a:solidFill>
              </a:rPr>
              <a:t>Granularity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C34626-C5E3-4A94-85E6-E0472701DA52}"/>
              </a:ext>
            </a:extLst>
          </p:cNvPr>
          <p:cNvSpPr txBox="1"/>
          <p:nvPr/>
        </p:nvSpPr>
        <p:spPr>
          <a:xfrm>
            <a:off x="6103620" y="2457057"/>
            <a:ext cx="28346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Weather data is captured at an hourly level, which may miss short-duration events like microbursts or sudden wind shear.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6D44AE5-C341-626F-449D-A43C13B924F5}"/>
              </a:ext>
            </a:extLst>
          </p:cNvPr>
          <p:cNvSpPr txBox="1"/>
          <p:nvPr/>
        </p:nvSpPr>
        <p:spPr>
          <a:xfrm>
            <a:off x="6080760" y="337818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FF0000"/>
                </a:solidFill>
              </a:rPr>
              <a:t> Class Imbalance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E67D33-6845-D3F5-2106-651459247CAB}"/>
              </a:ext>
            </a:extLst>
          </p:cNvPr>
          <p:cNvSpPr txBox="1"/>
          <p:nvPr/>
        </p:nvSpPr>
        <p:spPr>
          <a:xfrm>
            <a:off x="6095847" y="3590913"/>
            <a:ext cx="29260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The dataset is skewed (64% vs. 36%), which may underrepresent extreme delays (&gt;2 hours), contributing to an RMSE of 25.38 minutes.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CD1AB88-FC26-DF54-1038-86BD3E2FF868}"/>
              </a:ext>
            </a:extLst>
          </p:cNvPr>
          <p:cNvSpPr txBox="1"/>
          <p:nvPr/>
        </p:nvSpPr>
        <p:spPr>
          <a:xfrm>
            <a:off x="6080760" y="4367585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FF0000"/>
                </a:solidFill>
              </a:rPr>
              <a:t> Feature Availability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08767A-034C-253E-E402-1D3300420DC7}"/>
              </a:ext>
            </a:extLst>
          </p:cNvPr>
          <p:cNvSpPr txBox="1"/>
          <p:nvPr/>
        </p:nvSpPr>
        <p:spPr>
          <a:xfrm>
            <a:off x="6095847" y="4580292"/>
            <a:ext cx="28346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Certain features, such as Estimated Time of Departure (ETD), are only available after departure, limiting real-time prediction capability.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0AFB5EB-18F7-20B0-B3DA-372B66F069D9}"/>
              </a:ext>
            </a:extLst>
          </p:cNvPr>
          <p:cNvSpPr/>
          <p:nvPr/>
        </p:nvSpPr>
        <p:spPr>
          <a:xfrm>
            <a:off x="5989320" y="5303520"/>
            <a:ext cx="30175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709DB6F-EF70-8CF0-E325-0D4593689C90}"/>
              </a:ext>
            </a:extLst>
          </p:cNvPr>
          <p:cNvSpPr txBox="1"/>
          <p:nvPr/>
        </p:nvSpPr>
        <p:spPr>
          <a:xfrm>
            <a:off x="6080760" y="5426746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FF0000"/>
                </a:solidFill>
              </a:rPr>
              <a:t>Regression Bias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CF9CA39-279C-A8E9-ED3E-4F15FDAE49B0}"/>
              </a:ext>
            </a:extLst>
          </p:cNvPr>
          <p:cNvSpPr txBox="1"/>
          <p:nvPr/>
        </p:nvSpPr>
        <p:spPr>
          <a:xfrm>
            <a:off x="6080760" y="5596128"/>
            <a:ext cx="28346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The model tends to overpredict delays by an average of +5.9 minutes, likely due to handling of extreme values (e.g., Winsorization).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93D4EA3-A3F1-A35A-55D2-A8DBB8BA045C}"/>
              </a:ext>
            </a:extLst>
          </p:cNvPr>
          <p:cNvSpPr txBox="1"/>
          <p:nvPr/>
        </p:nvSpPr>
        <p:spPr>
          <a:xfrm>
            <a:off x="9326880" y="1015504"/>
            <a:ext cx="2606040" cy="292388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D1B3E"/>
                </a:solidFill>
              </a:rPr>
              <a:t>Future Work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74EC8D0-F371-7848-8B5D-F568A96AABC6}"/>
              </a:ext>
            </a:extLst>
          </p:cNvPr>
          <p:cNvSpPr/>
          <p:nvPr/>
        </p:nvSpPr>
        <p:spPr>
          <a:xfrm>
            <a:off x="9235440" y="1325880"/>
            <a:ext cx="28346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4D5F0DF-0073-7A56-A25C-F2E373209E82}"/>
              </a:ext>
            </a:extLst>
          </p:cNvPr>
          <p:cNvSpPr txBox="1"/>
          <p:nvPr/>
        </p:nvSpPr>
        <p:spPr>
          <a:xfrm>
            <a:off x="9326880" y="1371600"/>
            <a:ext cx="26517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</a:rPr>
              <a:t>Multi-Airport Modeling</a:t>
            </a:r>
          </a:p>
          <a:p>
            <a:pPr algn="l"/>
            <a:endParaRPr sz="1050" b="1" i="0" dirty="0">
              <a:solidFill>
                <a:srgbClr val="FF0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65459F8-53A2-1A29-1B69-92516FE22BAB}"/>
              </a:ext>
            </a:extLst>
          </p:cNvPr>
          <p:cNvSpPr txBox="1"/>
          <p:nvPr/>
        </p:nvSpPr>
        <p:spPr>
          <a:xfrm>
            <a:off x="9326880" y="1552758"/>
            <a:ext cx="26517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Expand the model to capture delay propagation across multiple airports, especially from major origin hubs.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2CCB26C-2351-136F-0B2C-47C8219E1466}"/>
              </a:ext>
            </a:extLst>
          </p:cNvPr>
          <p:cNvSpPr/>
          <p:nvPr/>
        </p:nvSpPr>
        <p:spPr>
          <a:xfrm>
            <a:off x="9235440" y="2163330"/>
            <a:ext cx="2834640" cy="15034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3AF7176-BACB-154C-3366-1487BEA17781}"/>
              </a:ext>
            </a:extLst>
          </p:cNvPr>
          <p:cNvSpPr txBox="1"/>
          <p:nvPr/>
        </p:nvSpPr>
        <p:spPr>
          <a:xfrm>
            <a:off x="9326880" y="224942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</a:rPr>
              <a:t>Advanced Models (LSTM / Transformer)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2A3DF50-FF89-C53E-4FAF-BCCA2A477A6D}"/>
              </a:ext>
            </a:extLst>
          </p:cNvPr>
          <p:cNvSpPr txBox="1"/>
          <p:nvPr/>
        </p:nvSpPr>
        <p:spPr>
          <a:xfrm>
            <a:off x="9326880" y="2432304"/>
            <a:ext cx="26517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Move from gradient boosting to sequence-based models like LSTM or Transformers to better capture time-series dependencies along flight routes.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0A91F14-8B0B-D047-AC9E-6538D08F749E}"/>
              </a:ext>
            </a:extLst>
          </p:cNvPr>
          <p:cNvSpPr/>
          <p:nvPr/>
        </p:nvSpPr>
        <p:spPr>
          <a:xfrm>
            <a:off x="9235440" y="3712464"/>
            <a:ext cx="28346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F5D76BC-86E0-0D2B-0C5D-F70ED07EC5F5}"/>
              </a:ext>
            </a:extLst>
          </p:cNvPr>
          <p:cNvSpPr txBox="1"/>
          <p:nvPr/>
        </p:nvSpPr>
        <p:spPr>
          <a:xfrm>
            <a:off x="9281160" y="342900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</a:rPr>
              <a:t>Real-Time API Integration</a:t>
            </a:r>
            <a:endParaRPr sz="1050" b="1" i="0" dirty="0">
              <a:solidFill>
                <a:srgbClr val="FF000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67B334D-FE2C-F501-46DF-A60D191079D1}"/>
              </a:ext>
            </a:extLst>
          </p:cNvPr>
          <p:cNvSpPr txBox="1"/>
          <p:nvPr/>
        </p:nvSpPr>
        <p:spPr>
          <a:xfrm>
            <a:off x="9281160" y="3615448"/>
            <a:ext cx="26517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Develop a REST API that ingests live data sources such as ARINC, SITA, and Open-Metro for real-time predictions.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E13D441-7918-7B29-BB16-2D4BAC2E4500}"/>
              </a:ext>
            </a:extLst>
          </p:cNvPr>
          <p:cNvSpPr/>
          <p:nvPr/>
        </p:nvSpPr>
        <p:spPr>
          <a:xfrm>
            <a:off x="9235440" y="4507992"/>
            <a:ext cx="28346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05743DB-3B19-0838-2712-C8E3C0819BE2}"/>
              </a:ext>
            </a:extLst>
          </p:cNvPr>
          <p:cNvSpPr txBox="1"/>
          <p:nvPr/>
        </p:nvSpPr>
        <p:spPr>
          <a:xfrm>
            <a:off x="9326880" y="4369701"/>
            <a:ext cx="26517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Weather Integration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05E48B-E9EF-B655-CA2C-451C4B89C29D}"/>
              </a:ext>
            </a:extLst>
          </p:cNvPr>
          <p:cNvSpPr txBox="1"/>
          <p:nvPr/>
        </p:nvSpPr>
        <p:spPr>
          <a:xfrm>
            <a:off x="9326880" y="4564338"/>
            <a:ext cx="26517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arrival airport weather data to improve model accuracy, with an expected R² increase of approximately 0.08–0.12.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C6A7A70-9B80-BED9-AFB8-B65999997530}"/>
              </a:ext>
            </a:extLst>
          </p:cNvPr>
          <p:cNvSpPr/>
          <p:nvPr/>
        </p:nvSpPr>
        <p:spPr>
          <a:xfrm>
            <a:off x="9235440" y="5303520"/>
            <a:ext cx="28346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ED76978-A7D4-C356-4370-D24A4267600D}"/>
              </a:ext>
            </a:extLst>
          </p:cNvPr>
          <p:cNvSpPr txBox="1"/>
          <p:nvPr/>
        </p:nvSpPr>
        <p:spPr>
          <a:xfrm>
            <a:off x="9326880" y="541094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rgbClr val="FF0000"/>
                </a:solidFill>
              </a:rPr>
              <a:t> Additional Data Sources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719FC9-849C-71C9-980A-07F9D30F3E1A}"/>
              </a:ext>
            </a:extLst>
          </p:cNvPr>
          <p:cNvSpPr txBox="1"/>
          <p:nvPr/>
        </p:nvSpPr>
        <p:spPr>
          <a:xfrm>
            <a:off x="9326880" y="5596128"/>
            <a:ext cx="26517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Enhance the model using more inputs such as ATC ground delay programs, NOTAMs, and gate utilization data.</a:t>
            </a:r>
          </a:p>
        </p:txBody>
      </p:sp>
      <p:sp>
        <p:nvSpPr>
          <p:cNvPr id="5" name="Shape 10">
            <a:extLst>
              <a:ext uri="{FF2B5EF4-FFF2-40B4-BE49-F238E27FC236}">
                <a16:creationId xmlns:a16="http://schemas.microsoft.com/office/drawing/2014/main" id="{C7184435-9B0B-316F-C892-A50EB19BB759}"/>
              </a:ext>
            </a:extLst>
          </p:cNvPr>
          <p:cNvSpPr/>
          <p:nvPr/>
        </p:nvSpPr>
        <p:spPr>
          <a:xfrm>
            <a:off x="306" y="0"/>
            <a:ext cx="12191694" cy="8229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329255-AD59-78F4-AA13-479A7E853298}"/>
              </a:ext>
            </a:extLst>
          </p:cNvPr>
          <p:cNvSpPr txBox="1"/>
          <p:nvPr/>
        </p:nvSpPr>
        <p:spPr>
          <a:xfrm>
            <a:off x="182880" y="207841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</a:rPr>
              <a:t>Discussion, Limitations &amp; Future Work</a:t>
            </a:r>
          </a:p>
        </p:txBody>
      </p:sp>
    </p:spTree>
    <p:extLst>
      <p:ext uri="{BB962C8B-B14F-4D97-AF65-F5344CB8AC3E}">
        <p14:creationId xmlns:p14="http://schemas.microsoft.com/office/powerpoint/2010/main" val="3302540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A571F3-54BE-1865-89CB-5968BD6B081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9037C7-CF77-5497-A660-E9BB4E6A10F5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8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2DEA54-9F4A-AF97-4DB0-8AD471EDC9E4}"/>
              </a:ext>
            </a:extLst>
          </p:cNvPr>
          <p:cNvSpPr txBox="1"/>
          <p:nvPr/>
        </p:nvSpPr>
        <p:spPr>
          <a:xfrm>
            <a:off x="237744" y="6483096"/>
            <a:ext cx="1136599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0A0B0"/>
                </a:solidFill>
              </a:rPr>
              <a:t>Flight Delay Prediction — DFW  |  ADTA 5940 Capstone  |  GROUP-8  |  University of North Texas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0D7C94-A01D-CDFF-33F3-E375226E5DAD}"/>
              </a:ext>
            </a:extLst>
          </p:cNvPr>
          <p:cNvSpPr/>
          <p:nvPr/>
        </p:nvSpPr>
        <p:spPr>
          <a:xfrm>
            <a:off x="411480" y="1005840"/>
            <a:ext cx="2167128" cy="713232"/>
          </a:xfrm>
          <a:prstGeom prst="rect">
            <a:avLst/>
          </a:prstGeom>
          <a:solidFill>
            <a:srgbClr val="008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AB15E7-6805-02EC-0226-7F35BF96A0C3}"/>
              </a:ext>
            </a:extLst>
          </p:cNvPr>
          <p:cNvSpPr txBox="1"/>
          <p:nvPr/>
        </p:nvSpPr>
        <p:spPr>
          <a:xfrm>
            <a:off x="411480" y="1060704"/>
            <a:ext cx="216712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 dirty="0">
                <a:solidFill>
                  <a:srgbClr val="FFFFFF"/>
                </a:solidFill>
              </a:rPr>
              <a:t>0.87</a:t>
            </a:r>
            <a:r>
              <a:rPr lang="en-US" sz="2600" b="1" dirty="0">
                <a:solidFill>
                  <a:srgbClr val="FFFFFF"/>
                </a:solidFill>
              </a:rPr>
              <a:t>43</a:t>
            </a:r>
            <a:endParaRPr sz="2600" b="1" i="0" dirty="0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21E428-637C-39D9-74BF-2C633184A6F3}"/>
              </a:ext>
            </a:extLst>
          </p:cNvPr>
          <p:cNvSpPr txBox="1"/>
          <p:nvPr/>
        </p:nvSpPr>
        <p:spPr>
          <a:xfrm>
            <a:off x="411480" y="1481328"/>
            <a:ext cx="21671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AUC-ROC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E27EDC-4156-6BBC-1996-E28E2F0E129D}"/>
              </a:ext>
            </a:extLst>
          </p:cNvPr>
          <p:cNvSpPr/>
          <p:nvPr/>
        </p:nvSpPr>
        <p:spPr>
          <a:xfrm>
            <a:off x="2624328" y="1005840"/>
            <a:ext cx="2167128" cy="7132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66E941-219C-1194-CD04-8F93D3804DB2}"/>
              </a:ext>
            </a:extLst>
          </p:cNvPr>
          <p:cNvSpPr txBox="1"/>
          <p:nvPr/>
        </p:nvSpPr>
        <p:spPr>
          <a:xfrm>
            <a:off x="2624328" y="1060704"/>
            <a:ext cx="216712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 dirty="0">
                <a:solidFill>
                  <a:srgbClr val="FFFFFF"/>
                </a:solidFill>
              </a:rPr>
              <a:t>8</a:t>
            </a:r>
            <a:r>
              <a:rPr lang="en-US" sz="2600" b="1" dirty="0">
                <a:solidFill>
                  <a:srgbClr val="FFFFFF"/>
                </a:solidFill>
              </a:rPr>
              <a:t>5.56</a:t>
            </a:r>
            <a:r>
              <a:rPr sz="2600" b="1" i="0" dirty="0">
                <a:solidFill>
                  <a:srgbClr val="FFFFFF"/>
                </a:solidFill>
              </a:rPr>
              <a:t>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796C4A-0EDD-4487-8FF2-C5445E7659F3}"/>
              </a:ext>
            </a:extLst>
          </p:cNvPr>
          <p:cNvSpPr txBox="1"/>
          <p:nvPr/>
        </p:nvSpPr>
        <p:spPr>
          <a:xfrm>
            <a:off x="2624328" y="1481328"/>
            <a:ext cx="21671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7849A6-FDCC-C2EC-9878-11AF86B47C9B}"/>
              </a:ext>
            </a:extLst>
          </p:cNvPr>
          <p:cNvSpPr/>
          <p:nvPr/>
        </p:nvSpPr>
        <p:spPr>
          <a:xfrm>
            <a:off x="4837176" y="1005840"/>
            <a:ext cx="2167128" cy="713232"/>
          </a:xfrm>
          <a:prstGeom prst="rect">
            <a:avLst/>
          </a:prstGeom>
          <a:solidFill>
            <a:srgbClr val="008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D20A99-5A44-39D1-2232-D795AB5947E8}"/>
              </a:ext>
            </a:extLst>
          </p:cNvPr>
          <p:cNvSpPr txBox="1"/>
          <p:nvPr/>
        </p:nvSpPr>
        <p:spPr>
          <a:xfrm>
            <a:off x="4837176" y="1060704"/>
            <a:ext cx="216712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</a:rPr>
              <a:t>69.58</a:t>
            </a:r>
            <a:r>
              <a:rPr sz="2600" b="1" i="0" dirty="0">
                <a:solidFill>
                  <a:srgbClr val="FFFFFF"/>
                </a:solidFill>
              </a:rPr>
              <a:t>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085302-0D6E-0A28-DF8B-92131B803A2D}"/>
              </a:ext>
            </a:extLst>
          </p:cNvPr>
          <p:cNvSpPr txBox="1"/>
          <p:nvPr/>
        </p:nvSpPr>
        <p:spPr>
          <a:xfrm>
            <a:off x="4837176" y="1481328"/>
            <a:ext cx="21671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Delay Recall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4AEAC-D997-E644-0B20-277FB2A0B0E5}"/>
              </a:ext>
            </a:extLst>
          </p:cNvPr>
          <p:cNvSpPr/>
          <p:nvPr/>
        </p:nvSpPr>
        <p:spPr>
          <a:xfrm>
            <a:off x="7050024" y="1005840"/>
            <a:ext cx="2167128" cy="7132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E0BB93-5F4E-714B-767B-272C36A1B546}"/>
              </a:ext>
            </a:extLst>
          </p:cNvPr>
          <p:cNvSpPr txBox="1"/>
          <p:nvPr/>
        </p:nvSpPr>
        <p:spPr>
          <a:xfrm>
            <a:off x="7050024" y="1060704"/>
            <a:ext cx="216712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1" i="0" dirty="0">
                <a:solidFill>
                  <a:srgbClr val="FFFFFF"/>
                </a:solidFill>
              </a:rPr>
              <a:t>9.73 </a:t>
            </a:r>
            <a:r>
              <a:rPr sz="2600" b="1" i="0" dirty="0">
                <a:solidFill>
                  <a:srgbClr val="FFFFFF"/>
                </a:solidFill>
              </a:rPr>
              <a:t>min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571A1D-6A20-B5D8-641A-A795B173B879}"/>
              </a:ext>
            </a:extLst>
          </p:cNvPr>
          <p:cNvSpPr txBox="1"/>
          <p:nvPr/>
        </p:nvSpPr>
        <p:spPr>
          <a:xfrm>
            <a:off x="7050024" y="1481328"/>
            <a:ext cx="21671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Reg. MAE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ED24F2-28CD-E260-6381-78C317F89AB5}"/>
              </a:ext>
            </a:extLst>
          </p:cNvPr>
          <p:cNvSpPr/>
          <p:nvPr/>
        </p:nvSpPr>
        <p:spPr>
          <a:xfrm>
            <a:off x="9262872" y="1005840"/>
            <a:ext cx="2167128" cy="713232"/>
          </a:xfrm>
          <a:prstGeom prst="rect">
            <a:avLst/>
          </a:prstGeom>
          <a:solidFill>
            <a:srgbClr val="008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F723F8-25C5-26B7-3E97-BD6537E35243}"/>
              </a:ext>
            </a:extLst>
          </p:cNvPr>
          <p:cNvSpPr txBox="1"/>
          <p:nvPr/>
        </p:nvSpPr>
        <p:spPr>
          <a:xfrm>
            <a:off x="9262872" y="1060704"/>
            <a:ext cx="216712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 dirty="0">
                <a:solidFill>
                  <a:srgbClr val="FFFFFF"/>
                </a:solidFill>
              </a:rPr>
              <a:t>0.7</a:t>
            </a:r>
            <a:r>
              <a:rPr lang="en-US" sz="2600" b="1" i="0" dirty="0">
                <a:solidFill>
                  <a:srgbClr val="FFFFFF"/>
                </a:solidFill>
              </a:rPr>
              <a:t>314</a:t>
            </a:r>
            <a:endParaRPr sz="2600" b="1" i="0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8B8DCB-3360-44A7-BC18-84C5FEF7B60E}"/>
              </a:ext>
            </a:extLst>
          </p:cNvPr>
          <p:cNvSpPr txBox="1"/>
          <p:nvPr/>
        </p:nvSpPr>
        <p:spPr>
          <a:xfrm>
            <a:off x="9262872" y="1481328"/>
            <a:ext cx="21671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R² Score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E17E14-42EE-24A5-405C-25CB815B303C}"/>
              </a:ext>
            </a:extLst>
          </p:cNvPr>
          <p:cNvSpPr/>
          <p:nvPr/>
        </p:nvSpPr>
        <p:spPr>
          <a:xfrm>
            <a:off x="411480" y="2157984"/>
            <a:ext cx="3749039" cy="17922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CA9840-EAF0-C054-C605-4F1A5767E6C4}"/>
              </a:ext>
            </a:extLst>
          </p:cNvPr>
          <p:cNvSpPr/>
          <p:nvPr/>
        </p:nvSpPr>
        <p:spPr>
          <a:xfrm>
            <a:off x="420624" y="2171137"/>
            <a:ext cx="3749039" cy="292608"/>
          </a:xfrm>
          <a:prstGeom prst="rect">
            <a:avLst/>
          </a:prstGeom>
          <a:solidFill>
            <a:srgbClr val="008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806B0E-9B58-0B0B-8FB6-57F13758F96D}"/>
              </a:ext>
            </a:extLst>
          </p:cNvPr>
          <p:cNvSpPr txBox="1"/>
          <p:nvPr/>
        </p:nvSpPr>
        <p:spPr>
          <a:xfrm>
            <a:off x="553212" y="2198569"/>
            <a:ext cx="3611879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 dirty="0">
                <a:solidFill>
                  <a:srgbClr val="FFFFFF"/>
                </a:solidFill>
              </a:rPr>
              <a:t> Airline Operations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8E2E0A-3FDB-B950-76BF-9A7A1328FA3A}"/>
              </a:ext>
            </a:extLst>
          </p:cNvPr>
          <p:cNvSpPr txBox="1"/>
          <p:nvPr/>
        </p:nvSpPr>
        <p:spPr>
          <a:xfrm>
            <a:off x="984576" y="2825496"/>
            <a:ext cx="2577332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1050" b="0" i="0" dirty="0"/>
              <a:t>Proactive crew &amp; gate reassignment</a:t>
            </a:r>
            <a:endParaRPr lang="en-US" sz="1050" b="0" i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Reduce reactionary delay cascades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ETD-triggered ground hold optimization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Route-level delay risk monitoring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050" b="0" i="0" dirty="0"/>
          </a:p>
          <a:p>
            <a:pPr algn="l"/>
            <a:endParaRPr sz="1050" b="0" i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BADE61-E089-671B-3FEA-4B5953957C11}"/>
              </a:ext>
            </a:extLst>
          </p:cNvPr>
          <p:cNvSpPr/>
          <p:nvPr/>
        </p:nvSpPr>
        <p:spPr>
          <a:xfrm>
            <a:off x="4251959" y="2167128"/>
            <a:ext cx="3749039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6CF7D25-C707-E757-05D8-2F9C3AF6F362}"/>
              </a:ext>
            </a:extLst>
          </p:cNvPr>
          <p:cNvSpPr/>
          <p:nvPr/>
        </p:nvSpPr>
        <p:spPr>
          <a:xfrm>
            <a:off x="4251959" y="2185384"/>
            <a:ext cx="3749039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6EF919-0A26-EBCA-AD43-21296A5BAFBD}"/>
              </a:ext>
            </a:extLst>
          </p:cNvPr>
          <p:cNvSpPr txBox="1"/>
          <p:nvPr/>
        </p:nvSpPr>
        <p:spPr>
          <a:xfrm>
            <a:off x="4407407" y="2180812"/>
            <a:ext cx="3611879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 dirty="0">
                <a:solidFill>
                  <a:srgbClr val="FFFFFF"/>
                </a:solidFill>
              </a:rPr>
              <a:t>  Airport Authority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B48237D-3DEF-081E-BB6F-89F64BA1BB8C}"/>
              </a:ext>
            </a:extLst>
          </p:cNvPr>
          <p:cNvSpPr/>
          <p:nvPr/>
        </p:nvSpPr>
        <p:spPr>
          <a:xfrm>
            <a:off x="8092438" y="2167128"/>
            <a:ext cx="3749039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BB5927F-FCC2-8B50-1553-8F02A6EF6779}"/>
              </a:ext>
            </a:extLst>
          </p:cNvPr>
          <p:cNvSpPr/>
          <p:nvPr/>
        </p:nvSpPr>
        <p:spPr>
          <a:xfrm>
            <a:off x="8103283" y="2189988"/>
            <a:ext cx="3749039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65CCAE-A232-D38A-2BD1-28A982B7B87B}"/>
              </a:ext>
            </a:extLst>
          </p:cNvPr>
          <p:cNvSpPr txBox="1"/>
          <p:nvPr/>
        </p:nvSpPr>
        <p:spPr>
          <a:xfrm>
            <a:off x="8161017" y="2231136"/>
            <a:ext cx="3611879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 dirty="0">
                <a:solidFill>
                  <a:srgbClr val="FFFFFF"/>
                </a:solidFill>
              </a:rPr>
              <a:t> Passengers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C3CE82B-7D49-4FC7-6E25-A6FE2A4F346F}"/>
              </a:ext>
            </a:extLst>
          </p:cNvPr>
          <p:cNvSpPr txBox="1"/>
          <p:nvPr/>
        </p:nvSpPr>
        <p:spPr>
          <a:xfrm>
            <a:off x="315482" y="4086035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D1B3E"/>
                </a:solidFill>
              </a:rPr>
              <a:t>Conclusion — Key Takeaways</a:t>
            </a:r>
          </a:p>
        </p:txBody>
      </p:sp>
      <p:sp>
        <p:nvSpPr>
          <p:cNvPr id="62" name="SB1">
            <a:extLst>
              <a:ext uri="{FF2B5EF4-FFF2-40B4-BE49-F238E27FC236}">
                <a16:creationId xmlns:a16="http://schemas.microsoft.com/office/drawing/2014/main" id="{653E38BF-5A4E-6C69-1253-22A0D3DC86F5}"/>
              </a:ext>
            </a:extLst>
          </p:cNvPr>
          <p:cNvSpPr/>
          <p:nvPr/>
        </p:nvSpPr>
        <p:spPr>
          <a:xfrm>
            <a:off x="4494150" y="2777640"/>
            <a:ext cx="3150659" cy="87996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txBody>
          <a:bodyPr wrap="square" lIns="114300" tIns="91440" rIns="114300" bIns="9144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Real-time slot allocation decisions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Weather-based runway prioritization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Staff scheduling for peak delay windows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Cargo/baggage throughput planning</a:t>
            </a:r>
          </a:p>
        </p:txBody>
      </p:sp>
      <p:sp>
        <p:nvSpPr>
          <p:cNvPr id="63" name="SB2">
            <a:extLst>
              <a:ext uri="{FF2B5EF4-FFF2-40B4-BE49-F238E27FC236}">
                <a16:creationId xmlns:a16="http://schemas.microsoft.com/office/drawing/2014/main" id="{FBECB792-7D77-F18E-F56E-E6B80BFEA091}"/>
              </a:ext>
            </a:extLst>
          </p:cNvPr>
          <p:cNvSpPr/>
          <p:nvPr/>
        </p:nvSpPr>
        <p:spPr>
          <a:xfrm>
            <a:off x="8592697" y="2777640"/>
            <a:ext cx="2794240" cy="89824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txBody>
          <a:bodyPr wrap="square" lIns="114300" tIns="91440" rIns="114300" bIns="9144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Advance delay alerts (6–12 hours)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Confident connection planning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Reduced uncertainty at gate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Improved overall travel experience</a:t>
            </a:r>
          </a:p>
        </p:txBody>
      </p:sp>
      <p:sp>
        <p:nvSpPr>
          <p:cNvPr id="64" name="BestBox">
            <a:extLst>
              <a:ext uri="{FF2B5EF4-FFF2-40B4-BE49-F238E27FC236}">
                <a16:creationId xmlns:a16="http://schemas.microsoft.com/office/drawing/2014/main" id="{E192EA8A-DD2A-2B34-64A0-BF31F2078E7B}"/>
              </a:ext>
            </a:extLst>
          </p:cNvPr>
          <p:cNvSpPr/>
          <p:nvPr/>
        </p:nvSpPr>
        <p:spPr>
          <a:xfrm>
            <a:off x="315482" y="4431103"/>
            <a:ext cx="10416018" cy="1852158"/>
          </a:xfrm>
          <a:prstGeom prst="roundRect">
            <a:avLst>
              <a:gd name="adj" fmla="val 10000"/>
            </a:avLst>
          </a:prstGeom>
          <a:solidFill>
            <a:srgbClr val="1E3A5F"/>
          </a:solidFill>
        </p:spPr>
        <p:txBody>
          <a:bodyPr wrap="square" lIns="182880" tIns="91440" rIns="182880" bIns="91440" anchor="ctr"/>
          <a:lstStyle/>
          <a:p>
            <a:endParaRPr lang="en-US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Dual ML pipeline (classification + regression) predicting DFW flight arrival delays from 1.1M flights across 4.5 years.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XGBoost achieves AUC ≈ 0.87 for delay detection, while LightGBM predicts delay duration with MAE ≈ 11.38 minutes on validation data.</a:t>
            </a:r>
            <a:r>
              <a:rPr lang="en-US" sz="1200" dirty="0"/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In-flight ETD signals dominate SHAP rankings. Weather adds meaningful marginal signal (pressure_msl, is_precip). </a:t>
            </a: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departure hour is a persistent risk independent of other features.</a:t>
            </a:r>
            <a:endParaRPr lang="en-US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Strict temporal splitting + expanding-mean encoding prevent data leakage. Train–Test AUC gap = 0.0012 (</a:t>
            </a:r>
            <a:r>
              <a:rPr lang="en-US" sz="1200" dirty="0">
                <a:solidFill>
                  <a:schemeClr val="bg2"/>
                </a:solidFill>
              </a:rPr>
              <a:t>Strong generalization with minimal overfitting).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2"/>
                </a:solidFill>
              </a:rPr>
              <a:t>Framework is production-ready, enabling real-time delay prediction and a shift from reactive to proactive airline operations.</a:t>
            </a:r>
            <a:endParaRPr lang="en-US" sz="1200" dirty="0">
              <a:solidFill>
                <a:schemeClr val="bg1"/>
              </a:solidFill>
            </a:endParaRPr>
          </a:p>
          <a:p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652FF95B-8706-0354-36A6-4BD0E96B3829}"/>
              </a:ext>
            </a:extLst>
          </p:cNvPr>
          <p:cNvSpPr/>
          <p:nvPr/>
        </p:nvSpPr>
        <p:spPr>
          <a:xfrm>
            <a:off x="306" y="0"/>
            <a:ext cx="12191694" cy="8229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6EE634-73FD-A6B6-1466-1839EFA06414}"/>
              </a:ext>
            </a:extLst>
          </p:cNvPr>
          <p:cNvSpPr txBox="1"/>
          <p:nvPr/>
        </p:nvSpPr>
        <p:spPr>
          <a:xfrm>
            <a:off x="237744" y="202776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</a:rPr>
              <a:t>Business Outcomes &amp; Conclusion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513FA3-CA03-2C3B-61C1-968779AC1D92}"/>
              </a:ext>
            </a:extLst>
          </p:cNvPr>
          <p:cNvSpPr txBox="1"/>
          <p:nvPr/>
        </p:nvSpPr>
        <p:spPr>
          <a:xfrm>
            <a:off x="9207551" y="216175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 dirty="0">
                <a:solidFill>
                  <a:srgbClr val="CCE8EE"/>
                </a:solidFill>
              </a:rPr>
              <a:t>Operational impact for airlines, airports &amp; passengers  |  Key findings</a:t>
            </a:r>
          </a:p>
        </p:txBody>
      </p:sp>
    </p:spTree>
    <p:extLst>
      <p:ext uri="{BB962C8B-B14F-4D97-AF65-F5344CB8AC3E}">
        <p14:creationId xmlns:p14="http://schemas.microsoft.com/office/powerpoint/2010/main" val="555801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2419CF-D69B-62B3-FEB7-F47420891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482" y="457200"/>
            <a:ext cx="8904270" cy="594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0825EE-9869-4B6D-0EAE-C2BF3BBD6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395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6479</TotalTime>
  <Words>3218</Words>
  <Application>Microsoft Macintosh PowerPoint</Application>
  <PresentationFormat>Widescreen</PresentationFormat>
  <Paragraphs>568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Flight Delay Prediction — DFW Airport</dc:title>
  <dc:subject>PptxGenJS Presentation</dc:subject>
  <dc:creator>GROUP-8 | ADTA 5940</dc:creator>
  <cp:lastModifiedBy>Dontireddy, Manasa</cp:lastModifiedBy>
  <cp:revision>160</cp:revision>
  <dcterms:created xsi:type="dcterms:W3CDTF">2026-04-26T15:18:25Z</dcterms:created>
  <dcterms:modified xsi:type="dcterms:W3CDTF">2026-05-11T18:16:38Z</dcterms:modified>
</cp:coreProperties>
</file>